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tension every madrasah leader already feels: parents want deen and diploma under one 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1.png"/><Relationship Id="rId6" Type="http://schemas.openxmlformats.org/officeDocument/2006/relationships/image" Target="../media/image-4-6.png"/><Relationship Id="rId7" Type="http://schemas.openxmlformats.org/officeDocument/2006/relationships/image" Target="../media/image-4-6.png"/><Relationship Id="rId8" Type="http://schemas.openxmlformats.org/officeDocument/2006/relationships/image" Target="../media/image-4-6.png"/><Relationship Id="rId9" Type="http://schemas.openxmlformats.org/officeDocument/2006/relationships/image" Target="../media/image-4-6.png"/><Relationship Id="rId10" Type="http://schemas.openxmlformats.org/officeDocument/2006/relationships/image" Target="../media/image-4-6.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365B"/>
        </a:solidFill>
      </p:bgPr>
    </p:bg>
    <p:spTree>
      <p:nvGrpSpPr>
        <p:cNvPr id="1" name=""/>
        <p:cNvGrpSpPr/>
        <p:nvPr/>
      </p:nvGrpSpPr>
      <p:grpSpPr>
        <a:xfrm>
          <a:off x="0" y="0"/>
          <a:ext cx="0" cy="0"/>
          <a:chOff x="0" y="0"/>
          <a:chExt cx="0" cy="0"/>
        </a:xfrm>
      </p:grpSpPr>
      <p:pic>
        <p:nvPicPr>
          <p:cNvPr id="2" name="Image 0" descr="/root/deck/tga_logo_white.png">    </p:cNvPr>
          <p:cNvPicPr>
            <a:picLocks noChangeAspect="1"/>
          </p:cNvPicPr>
          <p:nvPr/>
        </p:nvPicPr>
        <p:blipFill>
          <a:blip r:embed="rId1"/>
          <a:stretch>
            <a:fillRect/>
          </a:stretch>
        </p:blipFill>
        <p:spPr>
          <a:xfrm>
            <a:off x="685800" y="548640"/>
            <a:ext cx="2011680" cy="612648"/>
          </a:xfrm>
          <a:prstGeom prst="rect">
            <a:avLst/>
          </a:prstGeom>
        </p:spPr>
      </p:pic>
      <p:sp>
        <p:nvSpPr>
          <p:cNvPr id="3" name="Text 0"/>
          <p:cNvSpPr txBox="1"/>
          <p:nvPr/>
        </p:nvSpPr>
        <p:spPr>
          <a:xfrm>
            <a:off x="685800" y="2148840"/>
            <a:ext cx="7315200" cy="274320"/>
          </a:xfrm>
          <a:prstGeom prst="rect">
            <a:avLst/>
          </a:prstGeom>
          <a:noFill/>
          <a:ln/>
        </p:spPr>
        <p:txBody>
          <a:bodyPr wrap="square" lIns="0" tIns="0" rIns="0" bIns="0" rtlCol="0" anchor="ctr"/>
          <a:lstStyle/>
          <a:p>
            <a:pPr indent="0" marL="0">
              <a:buNone/>
            </a:pPr>
            <a:r>
              <a:rPr lang="en-US" sz="1000" b="1" spc="300" kern="0" dirty="0">
                <a:solidFill>
                  <a:srgbClr val="B9C7DA"/>
                </a:solidFill>
                <a:latin typeface="Figtree" pitchFamily="34" charset="0"/>
                <a:ea typeface="Figtree" pitchFamily="34" charset="-122"/>
                <a:cs typeface="Figtree" pitchFamily="34" charset="-120"/>
              </a:rPr>
              <a:t>FOR MASAJID AND MADRASAH LEADERSHIP</a:t>
            </a:r>
            <a:endParaRPr lang="en-US" sz="1000" dirty="0"/>
          </a:p>
        </p:txBody>
      </p:sp>
      <p:sp>
        <p:nvSpPr>
          <p:cNvPr id="4" name="Text 1"/>
          <p:cNvSpPr txBox="1"/>
          <p:nvPr/>
        </p:nvSpPr>
        <p:spPr>
          <a:xfrm>
            <a:off x="685800" y="2514600"/>
            <a:ext cx="9601200" cy="1737360"/>
          </a:xfrm>
          <a:prstGeom prst="rect">
            <a:avLst/>
          </a:prstGeom>
          <a:noFill/>
          <a:ln/>
        </p:spPr>
        <p:txBody>
          <a:bodyPr wrap="square" lIns="0" tIns="0" rIns="0" bIns="0" rtlCol="0" anchor="t"/>
          <a:lstStyle/>
          <a:p>
            <a:pPr indent="0" marL="0">
              <a:lnSpc>
                <a:spcPct val="100000"/>
              </a:lnSpc>
              <a:buNone/>
            </a:pPr>
            <a:r>
              <a:rPr lang="en-US" sz="4800" b="1" dirty="0">
                <a:solidFill>
                  <a:srgbClr val="F3F4FA"/>
                </a:solidFill>
                <a:latin typeface="Bricolage Grotesque" pitchFamily="34" charset="0"/>
                <a:ea typeface="Bricolage Grotesque" pitchFamily="34" charset="-122"/>
                <a:cs typeface="Bricolage Grotesque" pitchFamily="34" charset="-120"/>
              </a:rPr>
              <a:t>Quran in the morning.</a:t>
            </a:r>
            <a:endParaRPr lang="en-US" sz="4800" dirty="0"/>
          </a:p>
          <a:p>
            <a:pPr indent="0" marL="0">
              <a:lnSpc>
                <a:spcPct val="100000"/>
              </a:lnSpc>
              <a:buNone/>
            </a:pPr>
            <a:r>
              <a:rPr lang="en-US" sz="4800" b="1" dirty="0">
                <a:solidFill>
                  <a:srgbClr val="F3F4FA"/>
                </a:solidFill>
                <a:latin typeface="Bricolage Grotesque" pitchFamily="34" charset="0"/>
                <a:ea typeface="Bricolage Grotesque" pitchFamily="34" charset="-122"/>
                <a:cs typeface="Bricolage Grotesque" pitchFamily="34" charset="-120"/>
              </a:rPr>
              <a:t>An Ontario diploma </a:t>
            </a:r>
            <a:pPr indent="0" marL="0">
              <a:lnSpc>
                <a:spcPct val="100000"/>
              </a:lnSpc>
              <a:buNone/>
            </a:pPr>
            <a:r>
              <a:rPr lang="en-US" sz="4800" b="1" dirty="0">
                <a:solidFill>
                  <a:srgbClr val="F3F4FA"/>
                </a:solidFill>
                <a:highlight>
                  <a:srgbClr val="B58A2A"/>
                </a:highlight>
                <a:latin typeface="Bricolage Grotesque" pitchFamily="34" charset="0"/>
                <a:ea typeface="Bricolage Grotesque" pitchFamily="34" charset="-122"/>
                <a:cs typeface="Bricolage Grotesque" pitchFamily="34" charset="-120"/>
              </a:rPr>
              <a:t>in the afternoon.</a:t>
            </a:r>
            <a:endParaRPr lang="en-US" sz="4800" dirty="0"/>
          </a:p>
        </p:txBody>
      </p:sp>
      <p:sp>
        <p:nvSpPr>
          <p:cNvPr id="5" name="Text 2"/>
          <p:cNvSpPr txBox="1"/>
          <p:nvPr/>
        </p:nvSpPr>
        <p:spPr>
          <a:xfrm>
            <a:off x="685800" y="4389120"/>
            <a:ext cx="7863840" cy="822960"/>
          </a:xfrm>
          <a:prstGeom prst="rect">
            <a:avLst/>
          </a:prstGeom>
          <a:noFill/>
          <a:ln/>
        </p:spPr>
        <p:txBody>
          <a:bodyPr wrap="square" lIns="0" tIns="0" rIns="0" bIns="0" rtlCol="0" anchor="t"/>
          <a:lstStyle/>
          <a:p>
            <a:pPr indent="0" marL="0">
              <a:lnSpc>
                <a:spcPct val="120000"/>
              </a:lnSpc>
              <a:buNone/>
            </a:pPr>
            <a:r>
              <a:rPr lang="en-US" sz="1700" dirty="0">
                <a:solidFill>
                  <a:srgbClr val="B9C7DA"/>
                </a:solidFill>
                <a:latin typeface="Figtree" pitchFamily="34" charset="0"/>
                <a:ea typeface="Figtree" pitchFamily="34" charset="-122"/>
                <a:cs typeface="Figtree" pitchFamily="34" charset="-120"/>
              </a:rPr>
              <a:t>An accredited academic program that runs inside your madrasah, taught and certified by Toronto Global Academy, without you running a school.</a:t>
            </a:r>
            <a:endParaRPr lang="en-US" sz="1700" dirty="0"/>
          </a:p>
        </p:txBody>
      </p:sp>
      <p:sp>
        <p:nvSpPr>
          <p:cNvPr id="6" name="Text 3"/>
          <p:cNvSpPr txBox="1"/>
          <p:nvPr/>
        </p:nvSpPr>
        <p:spPr>
          <a:xfrm>
            <a:off x="685800" y="6080760"/>
            <a:ext cx="5486400" cy="274320"/>
          </a:xfrm>
          <a:prstGeom prst="rect">
            <a:avLst/>
          </a:prstGeom>
          <a:noFill/>
          <a:ln/>
        </p:spPr>
        <p:txBody>
          <a:bodyPr wrap="square" lIns="0" tIns="0" rIns="0" bIns="0" rtlCol="0" anchor="ctr"/>
          <a:lstStyle/>
          <a:p>
            <a:pPr indent="0" marL="0">
              <a:buNone/>
            </a:pPr>
            <a:r>
              <a:rPr lang="en-US" sz="1100" dirty="0">
                <a:solidFill>
                  <a:srgbClr val="B9C7DA"/>
                </a:solidFill>
                <a:latin typeface="Figtree" pitchFamily="34" charset="0"/>
                <a:ea typeface="Figtree" pitchFamily="34" charset="-122"/>
                <a:cs typeface="Figtree" pitchFamily="34" charset="-120"/>
              </a:rPr>
              <a:t>Presented by Mirza-Zain Baig, Partner</a:t>
            </a:r>
            <a:endParaRPr lang="en-US" sz="1100" dirty="0"/>
          </a:p>
        </p:txBody>
      </p:sp>
      <p:sp>
        <p:nvSpPr>
          <p:cNvPr id="7" name="Text 4"/>
          <p:cNvSpPr txBox="1"/>
          <p:nvPr/>
        </p:nvSpPr>
        <p:spPr>
          <a:xfrm>
            <a:off x="6019495" y="6080760"/>
            <a:ext cx="5486400" cy="274320"/>
          </a:xfrm>
          <a:prstGeom prst="rect">
            <a:avLst/>
          </a:prstGeom>
          <a:noFill/>
          <a:ln/>
        </p:spPr>
        <p:txBody>
          <a:bodyPr wrap="square" lIns="0" tIns="0" rIns="0" bIns="0" rtlCol="0" anchor="ctr"/>
          <a:lstStyle/>
          <a:p>
            <a:pPr algn="r" indent="0" marL="0">
              <a:buNone/>
            </a:pPr>
            <a:r>
              <a:rPr lang="en-US" sz="1100" dirty="0">
                <a:solidFill>
                  <a:srgbClr val="B9C7DA"/>
                </a:solidFill>
                <a:latin typeface="Figtree" pitchFamily="34" charset="0"/>
                <a:ea typeface="Figtree" pitchFamily="34" charset="-122"/>
                <a:cs typeface="Figtree" pitchFamily="34" charset="-120"/>
              </a:rPr>
              <a:t>Ontario Ministry inspected private school, BSID 884434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94360"/>
            <a:ext cx="7315200" cy="274320"/>
          </a:xfrm>
          <a:prstGeom prst="rect">
            <a:avLst/>
          </a:prstGeom>
          <a:noFill/>
          <a:ln/>
        </p:spPr>
        <p:txBody>
          <a:bodyPr wrap="square" lIns="0" tIns="0" rIns="0" bIns="0" rtlCol="0" anchor="ctr"/>
          <a:lstStyle/>
          <a:p>
            <a:pPr indent="0" marL="0">
              <a:buNone/>
            </a:pPr>
            <a:r>
              <a:rPr lang="en-US" sz="1000" b="1" spc="300" kern="0" dirty="0">
                <a:solidFill>
                  <a:srgbClr val="6F8197"/>
                </a:solidFill>
                <a:latin typeface="Figtree" pitchFamily="34" charset="0"/>
                <a:ea typeface="Figtree" pitchFamily="34" charset="-122"/>
                <a:cs typeface="Figtree" pitchFamily="34" charset="-120"/>
              </a:rPr>
              <a:t>THE PROBLEM</a:t>
            </a:r>
            <a:endParaRPr lang="en-US" sz="1000" dirty="0"/>
          </a:p>
        </p:txBody>
      </p:sp>
      <p:sp>
        <p:nvSpPr>
          <p:cNvPr id="3" name="Text 1"/>
          <p:cNvSpPr txBox="1"/>
          <p:nvPr/>
        </p:nvSpPr>
        <p:spPr>
          <a:xfrm>
            <a:off x="685800" y="914400"/>
            <a:ext cx="9601200" cy="1188720"/>
          </a:xfrm>
          <a:prstGeom prst="rect">
            <a:avLst/>
          </a:prstGeom>
          <a:noFill/>
          <a:ln/>
        </p:spPr>
        <p:txBody>
          <a:bodyPr wrap="square" lIns="0" tIns="0" rIns="0" bIns="0" rtlCol="0" anchor="t"/>
          <a:lstStyle/>
          <a:p>
            <a:pPr indent="0" marL="0">
              <a:lnSpc>
                <a:spcPct val="105000"/>
              </a:lnSpc>
              <a:buNone/>
            </a:pPr>
            <a:r>
              <a:rPr lang="en-US" sz="3400" b="1" dirty="0">
                <a:solidFill>
                  <a:srgbClr val="1D365B"/>
                </a:solidFill>
                <a:latin typeface="Bricolage Grotesque" pitchFamily="34" charset="0"/>
                <a:ea typeface="Bricolage Grotesque" pitchFamily="34" charset="-122"/>
                <a:cs typeface="Bricolage Grotesque" pitchFamily="34" charset="-120"/>
              </a:rPr>
              <a:t>Parents are asking you for something you were never set up to give.</a:t>
            </a:r>
            <a:endParaRPr lang="en-US" sz="3400" dirty="0"/>
          </a:p>
        </p:txBody>
      </p:sp>
      <p:sp>
        <p:nvSpPr>
          <p:cNvPr id="4" name="Text 2"/>
          <p:cNvSpPr txBox="1"/>
          <p:nvPr/>
        </p:nvSpPr>
        <p:spPr>
          <a:xfrm>
            <a:off x="685800" y="2148840"/>
            <a:ext cx="7772400" cy="640080"/>
          </a:xfrm>
          <a:prstGeom prst="rect">
            <a:avLst/>
          </a:prstGeom>
          <a:noFill/>
          <a:ln/>
        </p:spPr>
        <p:txBody>
          <a:bodyPr wrap="square" lIns="0" tIns="0" rIns="0" bIns="0" rtlCol="0" anchor="t"/>
          <a:lstStyle/>
          <a:p>
            <a:pPr indent="0" marL="0">
              <a:lnSpc>
                <a:spcPct val="120000"/>
              </a:lnSpc>
              <a:buNone/>
            </a:pPr>
            <a:r>
              <a:rPr lang="en-US" sz="1600" dirty="0">
                <a:solidFill>
                  <a:srgbClr val="46566D"/>
                </a:solidFill>
                <a:latin typeface="Figtree" pitchFamily="34" charset="0"/>
                <a:ea typeface="Figtree" pitchFamily="34" charset="-122"/>
                <a:cs typeface="Figtree" pitchFamily="34" charset="-120"/>
              </a:rPr>
              <a:t>Your Quran and hifdh program is strong. Then a parent asks the question every madrasah hears: what about school?</a:t>
            </a:r>
            <a:endParaRPr lang="en-US" sz="1600" dirty="0"/>
          </a:p>
        </p:txBody>
      </p:sp>
      <p:sp>
        <p:nvSpPr>
          <p:cNvPr id="5" name="Shape 3"/>
          <p:cNvSpPr/>
          <p:nvPr/>
        </p:nvSpPr>
        <p:spPr>
          <a:xfrm>
            <a:off x="685800" y="3063240"/>
            <a:ext cx="3454298" cy="2331720"/>
          </a:xfrm>
          <a:prstGeom prst="roundRect">
            <a:avLst>
              <a:gd name="adj" fmla="val 6275"/>
            </a:avLst>
          </a:prstGeom>
          <a:solidFill>
            <a:srgbClr val="E7EDF4"/>
          </a:solidFill>
          <a:ln w="12700">
            <a:solidFill>
              <a:srgbClr val="E7EDF4"/>
            </a:solidFill>
            <a:prstDash val="solid"/>
          </a:ln>
        </p:spPr>
      </p:sp>
      <p:pic>
        <p:nvPicPr>
          <p:cNvPr id="6" name="Image 0" descr="/root/deck/icons/choice_navy.png">    </p:cNvPr>
          <p:cNvPicPr>
            <a:picLocks noChangeAspect="1"/>
          </p:cNvPicPr>
          <p:nvPr/>
        </p:nvPicPr>
        <p:blipFill>
          <a:blip r:embed="rId1"/>
          <a:stretch>
            <a:fillRect/>
          </a:stretch>
        </p:blipFill>
        <p:spPr>
          <a:xfrm>
            <a:off x="941832" y="3319272"/>
            <a:ext cx="502920" cy="502920"/>
          </a:xfrm>
          <a:prstGeom prst="rect">
            <a:avLst/>
          </a:prstGeom>
        </p:spPr>
      </p:pic>
      <p:sp>
        <p:nvSpPr>
          <p:cNvPr id="7" name="Text 4"/>
          <p:cNvSpPr txBox="1"/>
          <p:nvPr/>
        </p:nvSpPr>
        <p:spPr>
          <a:xfrm>
            <a:off x="941832" y="3959352"/>
            <a:ext cx="2942234"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The choice families face</a:t>
            </a:r>
            <a:endParaRPr lang="en-US" sz="1600" dirty="0"/>
          </a:p>
        </p:txBody>
      </p:sp>
      <p:sp>
        <p:nvSpPr>
          <p:cNvPr id="8" name="Text 5"/>
          <p:cNvSpPr txBox="1"/>
          <p:nvPr/>
        </p:nvSpPr>
        <p:spPr>
          <a:xfrm>
            <a:off x="941832" y="4526280"/>
            <a:ext cx="2942234" cy="64008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Deen or diploma. Most families cannot find both under one roof, so they pick one and carry guilt about the other.</a:t>
            </a:r>
            <a:endParaRPr lang="en-US" sz="1250" dirty="0"/>
          </a:p>
        </p:txBody>
      </p:sp>
      <p:sp>
        <p:nvSpPr>
          <p:cNvPr id="9" name="Shape 6"/>
          <p:cNvSpPr/>
          <p:nvPr/>
        </p:nvSpPr>
        <p:spPr>
          <a:xfrm>
            <a:off x="4368698" y="3063240"/>
            <a:ext cx="3454298" cy="2331720"/>
          </a:xfrm>
          <a:prstGeom prst="roundRect">
            <a:avLst>
              <a:gd name="adj" fmla="val 6275"/>
            </a:avLst>
          </a:prstGeom>
          <a:solidFill>
            <a:srgbClr val="E7EDF4"/>
          </a:solidFill>
          <a:ln w="12700">
            <a:solidFill>
              <a:srgbClr val="E7EDF4"/>
            </a:solidFill>
            <a:prstDash val="solid"/>
          </a:ln>
        </p:spPr>
      </p:sp>
      <p:pic>
        <p:nvPicPr>
          <p:cNvPr id="10" name="Image 1" descr="/root/deck/icons/clock_navy.png">    </p:cNvPr>
          <p:cNvPicPr>
            <a:picLocks noChangeAspect="1"/>
          </p:cNvPicPr>
          <p:nvPr/>
        </p:nvPicPr>
        <p:blipFill>
          <a:blip r:embed="rId2"/>
          <a:stretch>
            <a:fillRect/>
          </a:stretch>
        </p:blipFill>
        <p:spPr>
          <a:xfrm>
            <a:off x="4624730" y="3319272"/>
            <a:ext cx="502920" cy="502920"/>
          </a:xfrm>
          <a:prstGeom prst="rect">
            <a:avLst/>
          </a:prstGeom>
        </p:spPr>
      </p:pic>
      <p:sp>
        <p:nvSpPr>
          <p:cNvPr id="11" name="Text 7"/>
          <p:cNvSpPr txBox="1"/>
          <p:nvPr/>
        </p:nvSpPr>
        <p:spPr>
          <a:xfrm>
            <a:off x="4624730" y="3959352"/>
            <a:ext cx="2942234"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The hifdh gap</a:t>
            </a:r>
            <a:endParaRPr lang="en-US" sz="1600" dirty="0"/>
          </a:p>
        </p:txBody>
      </p:sp>
      <p:sp>
        <p:nvSpPr>
          <p:cNvPr id="12" name="Text 8"/>
          <p:cNvSpPr txBox="1"/>
          <p:nvPr/>
        </p:nvSpPr>
        <p:spPr>
          <a:xfrm>
            <a:off x="4624730" y="4526280"/>
            <a:ext cx="2942234" cy="64008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Students pause academics for hifdh years and fall behind, or they leave hifdh early because high school cannot wait.</a:t>
            </a:r>
            <a:endParaRPr lang="en-US" sz="1250" dirty="0"/>
          </a:p>
        </p:txBody>
      </p:sp>
      <p:sp>
        <p:nvSpPr>
          <p:cNvPr id="13" name="Shape 9"/>
          <p:cNvSpPr/>
          <p:nvPr/>
        </p:nvSpPr>
        <p:spPr>
          <a:xfrm>
            <a:off x="8051597" y="3063240"/>
            <a:ext cx="3454298" cy="2331720"/>
          </a:xfrm>
          <a:prstGeom prst="roundRect">
            <a:avLst>
              <a:gd name="adj" fmla="val 6275"/>
            </a:avLst>
          </a:prstGeom>
          <a:solidFill>
            <a:srgbClr val="E7EDF4"/>
          </a:solidFill>
          <a:ln w="12700">
            <a:solidFill>
              <a:srgbClr val="E7EDF4"/>
            </a:solidFill>
            <a:prstDash val="solid"/>
          </a:ln>
        </p:spPr>
      </p:sp>
      <p:pic>
        <p:nvPicPr>
          <p:cNvPr id="14" name="Image 2" descr="/root/deck/icons/building_navy.png">    </p:cNvPr>
          <p:cNvPicPr>
            <a:picLocks noChangeAspect="1"/>
          </p:cNvPicPr>
          <p:nvPr/>
        </p:nvPicPr>
        <p:blipFill>
          <a:blip r:embed="rId3"/>
          <a:stretch>
            <a:fillRect/>
          </a:stretch>
        </p:blipFill>
        <p:spPr>
          <a:xfrm>
            <a:off x="8307629" y="3319272"/>
            <a:ext cx="502920" cy="502920"/>
          </a:xfrm>
          <a:prstGeom prst="rect">
            <a:avLst/>
          </a:prstGeom>
        </p:spPr>
      </p:pic>
      <p:sp>
        <p:nvSpPr>
          <p:cNvPr id="15" name="Text 10"/>
          <p:cNvSpPr txBox="1"/>
          <p:nvPr/>
        </p:nvSpPr>
        <p:spPr>
          <a:xfrm>
            <a:off x="8307629" y="3959352"/>
            <a:ext cx="2942234"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The school you do not want to run</a:t>
            </a:r>
            <a:endParaRPr lang="en-US" sz="1600" dirty="0"/>
          </a:p>
        </p:txBody>
      </p:sp>
      <p:sp>
        <p:nvSpPr>
          <p:cNvPr id="16" name="Text 11"/>
          <p:cNvSpPr txBox="1"/>
          <p:nvPr/>
        </p:nvSpPr>
        <p:spPr>
          <a:xfrm>
            <a:off x="8307629" y="4526280"/>
            <a:ext cx="2942234" cy="64008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Ministry inspection, certified teachers, curriculum compliance, student records, payroll and liability. A full academic school is a second institution.</a:t>
            </a:r>
            <a:endParaRPr lang="en-US" sz="1250" dirty="0"/>
          </a:p>
        </p:txBody>
      </p:sp>
      <p:sp>
        <p:nvSpPr>
          <p:cNvPr id="17" name="Text 12"/>
          <p:cNvSpPr txBox="1"/>
          <p:nvPr/>
        </p:nvSpPr>
        <p:spPr>
          <a:xfrm>
            <a:off x="685800" y="6355080"/>
            <a:ext cx="3657600" cy="274320"/>
          </a:xfrm>
          <a:prstGeom prst="rect">
            <a:avLst/>
          </a:prstGeom>
          <a:noFill/>
          <a:ln/>
        </p:spPr>
        <p:txBody>
          <a:bodyPr wrap="square" lIns="0" tIns="0" rIns="0" bIns="0" rtlCol="0" anchor="ctr"/>
          <a:lstStyle/>
          <a:p>
            <a:pPr indent="0" marL="0">
              <a:buNone/>
            </a:pPr>
            <a:r>
              <a:rPr lang="en-US" sz="900" dirty="0">
                <a:solidFill>
                  <a:srgbClr val="6F8197"/>
                </a:solidFill>
                <a:latin typeface="Figtree" pitchFamily="34" charset="0"/>
                <a:ea typeface="Figtree" pitchFamily="34" charset="-122"/>
                <a:cs typeface="Figtree" pitchFamily="34" charset="-120"/>
              </a:rPr>
              <a:t>Toronto Global Academy</a:t>
            </a:r>
            <a:endParaRPr lang="en-US" sz="900" dirty="0"/>
          </a:p>
        </p:txBody>
      </p:sp>
      <p:sp>
        <p:nvSpPr>
          <p:cNvPr id="18" name="Text 13"/>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900" dirty="0">
                <a:solidFill>
                  <a:srgbClr val="6F8197"/>
                </a:solidFill>
                <a:latin typeface="Figtree" pitchFamily="34" charset="0"/>
                <a:ea typeface="Figtree" pitchFamily="34" charset="-122"/>
                <a:cs typeface="Figtree"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7EDF4"/>
        </a:solidFill>
      </p:bgPr>
    </p:bg>
    <p:spTree>
      <p:nvGrpSpPr>
        <p:cNvPr id="1" name=""/>
        <p:cNvGrpSpPr/>
        <p:nvPr/>
      </p:nvGrpSpPr>
      <p:grpSpPr>
        <a:xfrm>
          <a:off x="0" y="0"/>
          <a:ext cx="0" cy="0"/>
          <a:chOff x="0" y="0"/>
          <a:chExt cx="0" cy="0"/>
        </a:xfrm>
      </p:grpSpPr>
      <p:sp>
        <p:nvSpPr>
          <p:cNvPr id="2" name="Text 0"/>
          <p:cNvSpPr txBox="1"/>
          <p:nvPr/>
        </p:nvSpPr>
        <p:spPr>
          <a:xfrm>
            <a:off x="685800" y="914400"/>
            <a:ext cx="7315200" cy="274320"/>
          </a:xfrm>
          <a:prstGeom prst="rect">
            <a:avLst/>
          </a:prstGeom>
          <a:noFill/>
          <a:ln/>
        </p:spPr>
        <p:txBody>
          <a:bodyPr wrap="square" lIns="0" tIns="0" rIns="0" bIns="0" rtlCol="0" anchor="ctr"/>
          <a:lstStyle/>
          <a:p>
            <a:pPr indent="0" marL="0">
              <a:buNone/>
            </a:pPr>
            <a:r>
              <a:rPr lang="en-US" sz="1000" b="1" spc="300" kern="0" dirty="0">
                <a:solidFill>
                  <a:srgbClr val="6F8197"/>
                </a:solidFill>
                <a:latin typeface="Figtree" pitchFamily="34" charset="0"/>
                <a:ea typeface="Figtree" pitchFamily="34" charset="-122"/>
                <a:cs typeface="Figtree" pitchFamily="34" charset="-120"/>
              </a:rPr>
              <a:t>WHAT THE GAP COSTS</a:t>
            </a:r>
            <a:endParaRPr lang="en-US" sz="1000" dirty="0"/>
          </a:p>
        </p:txBody>
      </p:sp>
      <p:sp>
        <p:nvSpPr>
          <p:cNvPr id="3" name="Text 1"/>
          <p:cNvSpPr txBox="1"/>
          <p:nvPr/>
        </p:nvSpPr>
        <p:spPr>
          <a:xfrm>
            <a:off x="685800" y="1234440"/>
            <a:ext cx="4754880" cy="2194560"/>
          </a:xfrm>
          <a:prstGeom prst="rect">
            <a:avLst/>
          </a:prstGeom>
          <a:noFill/>
          <a:ln/>
        </p:spPr>
        <p:txBody>
          <a:bodyPr wrap="square" lIns="0" tIns="0" rIns="0" bIns="0" rtlCol="0" anchor="t"/>
          <a:lstStyle/>
          <a:p>
            <a:pPr indent="0" marL="0">
              <a:lnSpc>
                <a:spcPct val="105000"/>
              </a:lnSpc>
              <a:buNone/>
            </a:pPr>
            <a:r>
              <a:rPr lang="en-US" sz="3000" b="1" dirty="0">
                <a:solidFill>
                  <a:srgbClr val="1D365B"/>
                </a:solidFill>
                <a:latin typeface="Bricolage Grotesque" pitchFamily="34" charset="0"/>
                <a:ea typeface="Bricolage Grotesque" pitchFamily="34" charset="-122"/>
                <a:cs typeface="Bricolage Grotesque" pitchFamily="34" charset="-120"/>
              </a:rPr>
              <a:t>Every year without an answer, families quietly make the decision for you.</a:t>
            </a:r>
            <a:endParaRPr lang="en-US" sz="3000" dirty="0"/>
          </a:p>
        </p:txBody>
      </p:sp>
      <p:sp>
        <p:nvSpPr>
          <p:cNvPr id="4" name="Text 2"/>
          <p:cNvSpPr txBox="1"/>
          <p:nvPr/>
        </p:nvSpPr>
        <p:spPr>
          <a:xfrm>
            <a:off x="685800" y="3611880"/>
            <a:ext cx="4572000" cy="731520"/>
          </a:xfrm>
          <a:prstGeom prst="rect">
            <a:avLst/>
          </a:prstGeom>
          <a:noFill/>
          <a:ln/>
        </p:spPr>
        <p:txBody>
          <a:bodyPr wrap="square" lIns="0" tIns="0" rIns="0" bIns="0" rtlCol="0" anchor="t"/>
          <a:lstStyle/>
          <a:p>
            <a:pPr indent="0" marL="0">
              <a:lnSpc>
                <a:spcPct val="120000"/>
              </a:lnSpc>
              <a:buNone/>
            </a:pPr>
            <a:r>
              <a:rPr lang="en-US" sz="1400" dirty="0">
                <a:solidFill>
                  <a:srgbClr val="46566D"/>
                </a:solidFill>
                <a:latin typeface="Figtree" pitchFamily="34" charset="0"/>
                <a:ea typeface="Figtree" pitchFamily="34" charset="-122"/>
                <a:cs typeface="Figtree" pitchFamily="34" charset="-120"/>
              </a:rPr>
              <a:t>None of this shows up in your budget. It shows up in who is no longer in the building.</a:t>
            </a:r>
            <a:endParaRPr lang="en-US" sz="1400" dirty="0"/>
          </a:p>
        </p:txBody>
      </p:sp>
      <p:pic>
        <p:nvPicPr>
          <p:cNvPr id="5" name="Image 0" descr="/root/deck/icons/people_navy.png">    </p:cNvPr>
          <p:cNvPicPr>
            <a:picLocks noChangeAspect="1"/>
          </p:cNvPicPr>
          <p:nvPr/>
        </p:nvPicPr>
        <p:blipFill>
          <a:blip r:embed="rId1"/>
          <a:stretch>
            <a:fillRect/>
          </a:stretch>
        </p:blipFill>
        <p:spPr>
          <a:xfrm>
            <a:off x="6035040" y="914400"/>
            <a:ext cx="502920" cy="502920"/>
          </a:xfrm>
          <a:prstGeom prst="rect">
            <a:avLst/>
          </a:prstGeom>
        </p:spPr>
      </p:pic>
      <p:sp>
        <p:nvSpPr>
          <p:cNvPr id="6" name="Text 3"/>
          <p:cNvSpPr txBox="1"/>
          <p:nvPr/>
        </p:nvSpPr>
        <p:spPr>
          <a:xfrm>
            <a:off x="6720840" y="896112"/>
            <a:ext cx="4785055" cy="329184"/>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Families leave for full time Islamic schools elsewhere</a:t>
            </a:r>
            <a:endParaRPr lang="en-US" sz="1600" dirty="0"/>
          </a:p>
        </p:txBody>
      </p:sp>
      <p:sp>
        <p:nvSpPr>
          <p:cNvPr id="7" name="Text 4"/>
          <p:cNvSpPr txBox="1"/>
          <p:nvPr/>
        </p:nvSpPr>
        <p:spPr>
          <a:xfrm>
            <a:off x="6720840" y="1225296"/>
            <a:ext cx="4785055" cy="54864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They wanted to stay with you. They needed credits.</a:t>
            </a:r>
            <a:endParaRPr lang="en-US" sz="1250" dirty="0"/>
          </a:p>
        </p:txBody>
      </p:sp>
      <p:pic>
        <p:nvPicPr>
          <p:cNvPr id="8" name="Image 1" descr="/root/deck/icons/book_navy.png">    </p:cNvPr>
          <p:cNvPicPr>
            <a:picLocks noChangeAspect="1"/>
          </p:cNvPicPr>
          <p:nvPr/>
        </p:nvPicPr>
        <p:blipFill>
          <a:blip r:embed="rId2"/>
          <a:stretch>
            <a:fillRect/>
          </a:stretch>
        </p:blipFill>
        <p:spPr>
          <a:xfrm>
            <a:off x="6035040" y="2011680"/>
            <a:ext cx="502920" cy="502920"/>
          </a:xfrm>
          <a:prstGeom prst="rect">
            <a:avLst/>
          </a:prstGeom>
        </p:spPr>
      </p:pic>
      <p:sp>
        <p:nvSpPr>
          <p:cNvPr id="9" name="Text 5"/>
          <p:cNvSpPr txBox="1"/>
          <p:nvPr/>
        </p:nvSpPr>
        <p:spPr>
          <a:xfrm>
            <a:off x="6720840" y="1993392"/>
            <a:ext cx="4785055" cy="329184"/>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Hifdh students return to public school and lose the routine</a:t>
            </a:r>
            <a:endParaRPr lang="en-US" sz="1600" dirty="0"/>
          </a:p>
        </p:txBody>
      </p:sp>
      <p:sp>
        <p:nvSpPr>
          <p:cNvPr id="10" name="Text 6"/>
          <p:cNvSpPr txBox="1"/>
          <p:nvPr/>
        </p:nvSpPr>
        <p:spPr>
          <a:xfrm>
            <a:off x="6720840" y="2322576"/>
            <a:ext cx="4785055" cy="54864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The memorization holds only as long as the environment does.</a:t>
            </a:r>
            <a:endParaRPr lang="en-US" sz="1250" dirty="0"/>
          </a:p>
        </p:txBody>
      </p:sp>
      <p:pic>
        <p:nvPicPr>
          <p:cNvPr id="11" name="Image 2" descr="/root/deck/icons/home_navy.png">    </p:cNvPr>
          <p:cNvPicPr>
            <a:picLocks noChangeAspect="1"/>
          </p:cNvPicPr>
          <p:nvPr/>
        </p:nvPicPr>
        <p:blipFill>
          <a:blip r:embed="rId3"/>
          <a:stretch>
            <a:fillRect/>
          </a:stretch>
        </p:blipFill>
        <p:spPr>
          <a:xfrm>
            <a:off x="6035040" y="3108960"/>
            <a:ext cx="502920" cy="502920"/>
          </a:xfrm>
          <a:prstGeom prst="rect">
            <a:avLst/>
          </a:prstGeom>
        </p:spPr>
      </p:pic>
      <p:sp>
        <p:nvSpPr>
          <p:cNvPr id="12" name="Text 7"/>
          <p:cNvSpPr txBox="1"/>
          <p:nvPr/>
        </p:nvSpPr>
        <p:spPr>
          <a:xfrm>
            <a:off x="6720840" y="3090672"/>
            <a:ext cx="4785055" cy="329184"/>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Homeschooling parents carry the academic load alone</a:t>
            </a:r>
            <a:endParaRPr lang="en-US" sz="1600" dirty="0"/>
          </a:p>
        </p:txBody>
      </p:sp>
      <p:sp>
        <p:nvSpPr>
          <p:cNvPr id="13" name="Text 8"/>
          <p:cNvSpPr txBox="1"/>
          <p:nvPr/>
        </p:nvSpPr>
        <p:spPr>
          <a:xfrm>
            <a:off x="6720840" y="3419856"/>
            <a:ext cx="4785055" cy="54864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They stay connected to the masjid but do the teaching, marking and reporting themselves.</a:t>
            </a:r>
            <a:endParaRPr lang="en-US" sz="1250" dirty="0"/>
          </a:p>
        </p:txBody>
      </p:sp>
      <p:pic>
        <p:nvPicPr>
          <p:cNvPr id="14" name="Image 3" descr="/root/deck/icons/plus_navy.png">    </p:cNvPr>
          <p:cNvPicPr>
            <a:picLocks noChangeAspect="1"/>
          </p:cNvPicPr>
          <p:nvPr/>
        </p:nvPicPr>
        <p:blipFill>
          <a:blip r:embed="rId4"/>
          <a:stretch>
            <a:fillRect/>
          </a:stretch>
        </p:blipFill>
        <p:spPr>
          <a:xfrm>
            <a:off x="6035040" y="4206240"/>
            <a:ext cx="502920" cy="502920"/>
          </a:xfrm>
          <a:prstGeom prst="rect">
            <a:avLst/>
          </a:prstGeom>
        </p:spPr>
      </p:pic>
      <p:sp>
        <p:nvSpPr>
          <p:cNvPr id="15" name="Text 9"/>
          <p:cNvSpPr txBox="1"/>
          <p:nvPr/>
        </p:nvSpPr>
        <p:spPr>
          <a:xfrm>
            <a:off x="6720840" y="4187952"/>
            <a:ext cx="4785055" cy="329184"/>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Your institution stays a part time option</a:t>
            </a:r>
            <a:endParaRPr lang="en-US" sz="1600" dirty="0"/>
          </a:p>
        </p:txBody>
      </p:sp>
      <p:sp>
        <p:nvSpPr>
          <p:cNvPr id="16" name="Text 10"/>
          <p:cNvSpPr txBox="1"/>
          <p:nvPr/>
        </p:nvSpPr>
        <p:spPr>
          <a:xfrm>
            <a:off x="6720840" y="4517136"/>
            <a:ext cx="4785055" cy="54864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Instead of the centre of the family's education.</a:t>
            </a:r>
            <a:endParaRPr lang="en-US" sz="1250" dirty="0"/>
          </a:p>
        </p:txBody>
      </p:sp>
      <p:sp>
        <p:nvSpPr>
          <p:cNvPr id="17" name="Text 11"/>
          <p:cNvSpPr txBox="1"/>
          <p:nvPr/>
        </p:nvSpPr>
        <p:spPr>
          <a:xfrm>
            <a:off x="685800" y="6355080"/>
            <a:ext cx="3657600" cy="274320"/>
          </a:xfrm>
          <a:prstGeom prst="rect">
            <a:avLst/>
          </a:prstGeom>
          <a:noFill/>
          <a:ln/>
        </p:spPr>
        <p:txBody>
          <a:bodyPr wrap="square" lIns="0" tIns="0" rIns="0" bIns="0" rtlCol="0" anchor="ctr"/>
          <a:lstStyle/>
          <a:p>
            <a:pPr indent="0" marL="0">
              <a:buNone/>
            </a:pPr>
            <a:r>
              <a:rPr lang="en-US" sz="900" dirty="0">
                <a:solidFill>
                  <a:srgbClr val="6F8197"/>
                </a:solidFill>
                <a:latin typeface="Figtree" pitchFamily="34" charset="0"/>
                <a:ea typeface="Figtree" pitchFamily="34" charset="-122"/>
                <a:cs typeface="Figtree" pitchFamily="34" charset="-120"/>
              </a:rPr>
              <a:t>Toronto Global Academy</a:t>
            </a:r>
            <a:endParaRPr lang="en-US" sz="900" dirty="0"/>
          </a:p>
        </p:txBody>
      </p:sp>
      <p:sp>
        <p:nvSpPr>
          <p:cNvPr id="18" name="Text 12"/>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900" dirty="0">
                <a:solidFill>
                  <a:srgbClr val="6F8197"/>
                </a:solidFill>
                <a:latin typeface="Figtree" pitchFamily="34" charset="0"/>
                <a:ea typeface="Figtree" pitchFamily="34" charset="-122"/>
                <a:cs typeface="Figtree"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D365B"/>
        </a:solidFill>
      </p:bgPr>
    </p:bg>
    <p:spTree>
      <p:nvGrpSpPr>
        <p:cNvPr id="1" name=""/>
        <p:cNvGrpSpPr/>
        <p:nvPr/>
      </p:nvGrpSpPr>
      <p:grpSpPr>
        <a:xfrm>
          <a:off x="0" y="0"/>
          <a:ext cx="0" cy="0"/>
          <a:chOff x="0" y="0"/>
          <a:chExt cx="0" cy="0"/>
        </a:xfrm>
      </p:grpSpPr>
      <p:sp>
        <p:nvSpPr>
          <p:cNvPr id="2" name="Text 0"/>
          <p:cNvSpPr txBox="1"/>
          <p:nvPr/>
        </p:nvSpPr>
        <p:spPr>
          <a:xfrm>
            <a:off x="685800" y="594360"/>
            <a:ext cx="7315200" cy="274320"/>
          </a:xfrm>
          <a:prstGeom prst="rect">
            <a:avLst/>
          </a:prstGeom>
          <a:noFill/>
          <a:ln/>
        </p:spPr>
        <p:txBody>
          <a:bodyPr wrap="square" lIns="0" tIns="0" rIns="0" bIns="0" rtlCol="0" anchor="ctr"/>
          <a:lstStyle/>
          <a:p>
            <a:pPr indent="0" marL="0">
              <a:buNone/>
            </a:pPr>
            <a:r>
              <a:rPr lang="en-US" sz="1000" b="1" spc="300" kern="0" dirty="0">
                <a:solidFill>
                  <a:srgbClr val="B9C7DA"/>
                </a:solidFill>
                <a:latin typeface="Figtree" pitchFamily="34" charset="0"/>
                <a:ea typeface="Figtree" pitchFamily="34" charset="-122"/>
                <a:cs typeface="Figtree" pitchFamily="34" charset="-120"/>
              </a:rPr>
              <a:t>THE SOLUTION</a:t>
            </a:r>
            <a:endParaRPr lang="en-US" sz="1000" dirty="0"/>
          </a:p>
        </p:txBody>
      </p:sp>
      <p:sp>
        <p:nvSpPr>
          <p:cNvPr id="3" name="Text 1"/>
          <p:cNvSpPr txBox="1"/>
          <p:nvPr/>
        </p:nvSpPr>
        <p:spPr>
          <a:xfrm>
            <a:off x="685800" y="914400"/>
            <a:ext cx="9601200" cy="1188720"/>
          </a:xfrm>
          <a:prstGeom prst="rect">
            <a:avLst/>
          </a:prstGeom>
          <a:noFill/>
          <a:ln/>
        </p:spPr>
        <p:txBody>
          <a:bodyPr wrap="square" lIns="0" tIns="0" rIns="0" bIns="0" rtlCol="0" anchor="t"/>
          <a:lstStyle/>
          <a:p>
            <a:pPr indent="0" marL="0">
              <a:lnSpc>
                <a:spcPct val="105000"/>
              </a:lnSpc>
              <a:buNone/>
            </a:pPr>
            <a:r>
              <a:rPr lang="en-US" sz="3400" b="1" dirty="0">
                <a:solidFill>
                  <a:srgbClr val="F3F4FA"/>
                </a:solidFill>
                <a:latin typeface="Bricolage Grotesque" pitchFamily="34" charset="0"/>
                <a:ea typeface="Bricolage Grotesque" pitchFamily="34" charset="-122"/>
                <a:cs typeface="Bricolage Grotesque" pitchFamily="34" charset="-120"/>
              </a:rPr>
              <a:t>TGA runs the academics. You keep everything that makes you a madrasah.</a:t>
            </a:r>
            <a:endParaRPr lang="en-US" sz="3400" dirty="0"/>
          </a:p>
        </p:txBody>
      </p:sp>
      <p:sp>
        <p:nvSpPr>
          <p:cNvPr id="4" name="Shape 2"/>
          <p:cNvSpPr/>
          <p:nvPr/>
        </p:nvSpPr>
        <p:spPr>
          <a:xfrm>
            <a:off x="685800" y="2377440"/>
            <a:ext cx="5272888" cy="3291840"/>
          </a:xfrm>
          <a:prstGeom prst="roundRect">
            <a:avLst>
              <a:gd name="adj" fmla="val 4444"/>
            </a:avLst>
          </a:prstGeom>
          <a:solidFill>
            <a:srgbClr val="2C4468"/>
          </a:solidFill>
          <a:ln w="12700">
            <a:solidFill>
              <a:srgbClr val="2C4468"/>
            </a:solidFill>
            <a:prstDash val="solid"/>
          </a:ln>
        </p:spPr>
      </p:sp>
      <p:sp>
        <p:nvSpPr>
          <p:cNvPr id="5" name="Shape 3"/>
          <p:cNvSpPr/>
          <p:nvPr/>
        </p:nvSpPr>
        <p:spPr>
          <a:xfrm>
            <a:off x="6233008" y="2377440"/>
            <a:ext cx="5272888" cy="3291840"/>
          </a:xfrm>
          <a:prstGeom prst="roundRect">
            <a:avLst>
              <a:gd name="adj" fmla="val 4444"/>
            </a:avLst>
          </a:prstGeom>
          <a:solidFill>
            <a:srgbClr val="FFFFFF"/>
          </a:solidFill>
          <a:ln w="12700">
            <a:solidFill>
              <a:srgbClr val="FFFFFF"/>
            </a:solidFill>
            <a:prstDash val="solid"/>
          </a:ln>
        </p:spPr>
      </p:sp>
      <p:sp>
        <p:nvSpPr>
          <p:cNvPr id="6" name="Text 4"/>
          <p:cNvSpPr txBox="1"/>
          <p:nvPr/>
        </p:nvSpPr>
        <p:spPr>
          <a:xfrm>
            <a:off x="960120" y="2606040"/>
            <a:ext cx="3657600" cy="274320"/>
          </a:xfrm>
          <a:prstGeom prst="rect">
            <a:avLst/>
          </a:prstGeom>
          <a:noFill/>
          <a:ln/>
        </p:spPr>
        <p:txBody>
          <a:bodyPr wrap="square" lIns="0" tIns="0" rIns="0" bIns="0" rtlCol="0" anchor="ctr"/>
          <a:lstStyle/>
          <a:p>
            <a:pPr indent="0" marL="0">
              <a:buNone/>
            </a:pPr>
            <a:r>
              <a:rPr lang="en-US" sz="1000" b="1" spc="300" kern="0" dirty="0">
                <a:solidFill>
                  <a:srgbClr val="B9C7DA"/>
                </a:solidFill>
                <a:latin typeface="Figtree" pitchFamily="34" charset="0"/>
                <a:ea typeface="Figtree" pitchFamily="34" charset="-122"/>
                <a:cs typeface="Figtree" pitchFamily="34" charset="-120"/>
              </a:rPr>
              <a:t>YOU KEEP</a:t>
            </a:r>
            <a:endParaRPr lang="en-US" sz="1000" dirty="0"/>
          </a:p>
        </p:txBody>
      </p:sp>
      <p:sp>
        <p:nvSpPr>
          <p:cNvPr id="7" name="Text 5"/>
          <p:cNvSpPr txBox="1"/>
          <p:nvPr/>
        </p:nvSpPr>
        <p:spPr>
          <a:xfrm>
            <a:off x="6507328" y="2606040"/>
            <a:ext cx="3657600" cy="274320"/>
          </a:xfrm>
          <a:prstGeom prst="rect">
            <a:avLst/>
          </a:prstGeom>
          <a:noFill/>
          <a:ln/>
        </p:spPr>
        <p:txBody>
          <a:bodyPr wrap="square" lIns="0" tIns="0" rIns="0" bIns="0" rtlCol="0" anchor="ctr"/>
          <a:lstStyle/>
          <a:p>
            <a:pPr indent="0" marL="0">
              <a:buNone/>
            </a:pPr>
            <a:r>
              <a:rPr lang="en-US" sz="1000" b="1" spc="300" kern="0" dirty="0">
                <a:solidFill>
                  <a:srgbClr val="6F8197"/>
                </a:solidFill>
                <a:latin typeface="Figtree" pitchFamily="34" charset="0"/>
                <a:ea typeface="Figtree" pitchFamily="34" charset="-122"/>
                <a:cs typeface="Figtree" pitchFamily="34" charset="-120"/>
              </a:rPr>
              <a:t>TGA CARRIES</a:t>
            </a:r>
            <a:endParaRPr lang="en-US" sz="1000" dirty="0"/>
          </a:p>
        </p:txBody>
      </p:sp>
      <p:pic>
        <p:nvPicPr>
          <p:cNvPr id="8" name="Image 0" descr="/root/deck/icons/check_amber.png">    </p:cNvPr>
          <p:cNvPicPr>
            <a:picLocks noChangeAspect="1"/>
          </p:cNvPicPr>
          <p:nvPr/>
        </p:nvPicPr>
        <p:blipFill>
          <a:blip r:embed="rId1"/>
          <a:stretch>
            <a:fillRect/>
          </a:stretch>
        </p:blipFill>
        <p:spPr>
          <a:xfrm>
            <a:off x="960120" y="3017520"/>
            <a:ext cx="365760" cy="365760"/>
          </a:xfrm>
          <a:prstGeom prst="rect">
            <a:avLst/>
          </a:prstGeom>
        </p:spPr>
      </p:pic>
      <p:sp>
        <p:nvSpPr>
          <p:cNvPr id="9" name="Text 6"/>
          <p:cNvSpPr txBox="1"/>
          <p:nvPr/>
        </p:nvSpPr>
        <p:spPr>
          <a:xfrm>
            <a:off x="1463040" y="3017520"/>
            <a:ext cx="4175608" cy="365760"/>
          </a:xfrm>
          <a:prstGeom prst="rect">
            <a:avLst/>
          </a:prstGeom>
          <a:noFill/>
          <a:ln/>
        </p:spPr>
        <p:txBody>
          <a:bodyPr wrap="square" lIns="0" tIns="0" rIns="0" bIns="0" rtlCol="0" anchor="ctr"/>
          <a:lstStyle/>
          <a:p>
            <a:pPr indent="0" marL="0">
              <a:buNone/>
            </a:pPr>
            <a:r>
              <a:rPr lang="en-US" sz="1500" b="1" dirty="0">
                <a:solidFill>
                  <a:srgbClr val="F3F4FA"/>
                </a:solidFill>
                <a:latin typeface="Bricolage Grotesque" pitchFamily="34" charset="0"/>
                <a:ea typeface="Bricolage Grotesque" pitchFamily="34" charset="-122"/>
                <a:cs typeface="Bricolage Grotesque" pitchFamily="34" charset="-120"/>
              </a:rPr>
              <a:t>Your Quran and hifdh program</a:t>
            </a:r>
            <a:endParaRPr lang="en-US" sz="1500" dirty="0"/>
          </a:p>
        </p:txBody>
      </p:sp>
      <p:pic>
        <p:nvPicPr>
          <p:cNvPr id="10" name="Image 1" descr="/root/deck/icons/check_amber.png">    </p:cNvPr>
          <p:cNvPicPr>
            <a:picLocks noChangeAspect="1"/>
          </p:cNvPicPr>
          <p:nvPr/>
        </p:nvPicPr>
        <p:blipFill>
          <a:blip r:embed="rId2"/>
          <a:stretch>
            <a:fillRect/>
          </a:stretch>
        </p:blipFill>
        <p:spPr>
          <a:xfrm>
            <a:off x="960120" y="3520440"/>
            <a:ext cx="365760" cy="365760"/>
          </a:xfrm>
          <a:prstGeom prst="rect">
            <a:avLst/>
          </a:prstGeom>
        </p:spPr>
      </p:pic>
      <p:sp>
        <p:nvSpPr>
          <p:cNvPr id="11" name="Text 7"/>
          <p:cNvSpPr txBox="1"/>
          <p:nvPr/>
        </p:nvSpPr>
        <p:spPr>
          <a:xfrm>
            <a:off x="1463040" y="3520440"/>
            <a:ext cx="4175608" cy="365760"/>
          </a:xfrm>
          <a:prstGeom prst="rect">
            <a:avLst/>
          </a:prstGeom>
          <a:noFill/>
          <a:ln/>
        </p:spPr>
        <p:txBody>
          <a:bodyPr wrap="square" lIns="0" tIns="0" rIns="0" bIns="0" rtlCol="0" anchor="ctr"/>
          <a:lstStyle/>
          <a:p>
            <a:pPr indent="0" marL="0">
              <a:buNone/>
            </a:pPr>
            <a:r>
              <a:rPr lang="en-US" sz="1500" b="1" dirty="0">
                <a:solidFill>
                  <a:srgbClr val="F3F4FA"/>
                </a:solidFill>
                <a:latin typeface="Bricolage Grotesque" pitchFamily="34" charset="0"/>
                <a:ea typeface="Bricolage Grotesque" pitchFamily="34" charset="-122"/>
                <a:cs typeface="Bricolage Grotesque" pitchFamily="34" charset="-120"/>
              </a:rPr>
              <a:t>Your building and your schedule</a:t>
            </a:r>
            <a:endParaRPr lang="en-US" sz="1500" dirty="0"/>
          </a:p>
        </p:txBody>
      </p:sp>
      <p:pic>
        <p:nvPicPr>
          <p:cNvPr id="12" name="Image 2" descr="/root/deck/icons/check_amber.png">    </p:cNvPr>
          <p:cNvPicPr>
            <a:picLocks noChangeAspect="1"/>
          </p:cNvPicPr>
          <p:nvPr/>
        </p:nvPicPr>
        <p:blipFill>
          <a:blip r:embed="rId3"/>
          <a:stretch>
            <a:fillRect/>
          </a:stretch>
        </p:blipFill>
        <p:spPr>
          <a:xfrm>
            <a:off x="960120" y="4023360"/>
            <a:ext cx="365760" cy="365760"/>
          </a:xfrm>
          <a:prstGeom prst="rect">
            <a:avLst/>
          </a:prstGeom>
        </p:spPr>
      </p:pic>
      <p:sp>
        <p:nvSpPr>
          <p:cNvPr id="13" name="Text 8"/>
          <p:cNvSpPr txBox="1"/>
          <p:nvPr/>
        </p:nvSpPr>
        <p:spPr>
          <a:xfrm>
            <a:off x="1463040" y="4023360"/>
            <a:ext cx="4175608" cy="365760"/>
          </a:xfrm>
          <a:prstGeom prst="rect">
            <a:avLst/>
          </a:prstGeom>
          <a:noFill/>
          <a:ln/>
        </p:spPr>
        <p:txBody>
          <a:bodyPr wrap="square" lIns="0" tIns="0" rIns="0" bIns="0" rtlCol="0" anchor="ctr"/>
          <a:lstStyle/>
          <a:p>
            <a:pPr indent="0" marL="0">
              <a:buNone/>
            </a:pPr>
            <a:r>
              <a:rPr lang="en-US" sz="1500" b="1" dirty="0">
                <a:solidFill>
                  <a:srgbClr val="F3F4FA"/>
                </a:solidFill>
                <a:latin typeface="Bricolage Grotesque" pitchFamily="34" charset="0"/>
                <a:ea typeface="Bricolage Grotesque" pitchFamily="34" charset="-122"/>
                <a:cs typeface="Bricolage Grotesque" pitchFamily="34" charset="-120"/>
              </a:rPr>
              <a:t>The relationship with parents</a:t>
            </a:r>
            <a:endParaRPr lang="en-US" sz="1500" dirty="0"/>
          </a:p>
        </p:txBody>
      </p:sp>
      <p:pic>
        <p:nvPicPr>
          <p:cNvPr id="14" name="Image 3" descr="/root/deck/icons/check_amber.png">    </p:cNvPr>
          <p:cNvPicPr>
            <a:picLocks noChangeAspect="1"/>
          </p:cNvPicPr>
          <p:nvPr/>
        </p:nvPicPr>
        <p:blipFill>
          <a:blip r:embed="rId4"/>
          <a:stretch>
            <a:fillRect/>
          </a:stretch>
        </p:blipFill>
        <p:spPr>
          <a:xfrm>
            <a:off x="960120" y="4526280"/>
            <a:ext cx="365760" cy="365760"/>
          </a:xfrm>
          <a:prstGeom prst="rect">
            <a:avLst/>
          </a:prstGeom>
        </p:spPr>
      </p:pic>
      <p:sp>
        <p:nvSpPr>
          <p:cNvPr id="15" name="Text 9"/>
          <p:cNvSpPr txBox="1"/>
          <p:nvPr/>
        </p:nvSpPr>
        <p:spPr>
          <a:xfrm>
            <a:off x="1463040" y="4526280"/>
            <a:ext cx="4175608" cy="365760"/>
          </a:xfrm>
          <a:prstGeom prst="rect">
            <a:avLst/>
          </a:prstGeom>
          <a:noFill/>
          <a:ln/>
        </p:spPr>
        <p:txBody>
          <a:bodyPr wrap="square" lIns="0" tIns="0" rIns="0" bIns="0" rtlCol="0" anchor="ctr"/>
          <a:lstStyle/>
          <a:p>
            <a:pPr indent="0" marL="0">
              <a:buNone/>
            </a:pPr>
            <a:r>
              <a:rPr lang="en-US" sz="1500" b="1" dirty="0">
                <a:solidFill>
                  <a:srgbClr val="F3F4FA"/>
                </a:solidFill>
                <a:latin typeface="Bricolage Grotesque" pitchFamily="34" charset="0"/>
                <a:ea typeface="Bricolage Grotesque" pitchFamily="34" charset="-122"/>
                <a:cs typeface="Bricolage Grotesque" pitchFamily="34" charset="-120"/>
              </a:rPr>
              <a:t>The Islamic environment, all day</a:t>
            </a:r>
            <a:endParaRPr lang="en-US" sz="1500" dirty="0"/>
          </a:p>
        </p:txBody>
      </p:sp>
      <p:pic>
        <p:nvPicPr>
          <p:cNvPr id="16" name="Image 4" descr="/root/deck/icons/check_amber.png">    </p:cNvPr>
          <p:cNvPicPr>
            <a:picLocks noChangeAspect="1"/>
          </p:cNvPicPr>
          <p:nvPr/>
        </p:nvPicPr>
        <p:blipFill>
          <a:blip r:embed="rId5"/>
          <a:stretch>
            <a:fillRect/>
          </a:stretch>
        </p:blipFill>
        <p:spPr>
          <a:xfrm>
            <a:off x="960120" y="5029200"/>
            <a:ext cx="365760" cy="365760"/>
          </a:xfrm>
          <a:prstGeom prst="rect">
            <a:avLst/>
          </a:prstGeom>
        </p:spPr>
      </p:pic>
      <p:sp>
        <p:nvSpPr>
          <p:cNvPr id="17" name="Text 10"/>
          <p:cNvSpPr txBox="1"/>
          <p:nvPr/>
        </p:nvSpPr>
        <p:spPr>
          <a:xfrm>
            <a:off x="1463040" y="5029200"/>
            <a:ext cx="4175608" cy="365760"/>
          </a:xfrm>
          <a:prstGeom prst="rect">
            <a:avLst/>
          </a:prstGeom>
          <a:noFill/>
          <a:ln/>
        </p:spPr>
        <p:txBody>
          <a:bodyPr wrap="square" lIns="0" tIns="0" rIns="0" bIns="0" rtlCol="0" anchor="ctr"/>
          <a:lstStyle/>
          <a:p>
            <a:pPr indent="0" marL="0">
              <a:buNone/>
            </a:pPr>
            <a:r>
              <a:rPr lang="en-US" sz="1500" b="1" dirty="0">
                <a:solidFill>
                  <a:srgbClr val="F3F4FA"/>
                </a:solidFill>
                <a:latin typeface="Bricolage Grotesque" pitchFamily="34" charset="0"/>
                <a:ea typeface="Bricolage Grotesque" pitchFamily="34" charset="-122"/>
                <a:cs typeface="Bricolage Grotesque" pitchFamily="34" charset="-120"/>
              </a:rPr>
              <a:t>Supervision in the room</a:t>
            </a:r>
            <a:endParaRPr lang="en-US" sz="1500" dirty="0"/>
          </a:p>
        </p:txBody>
      </p:sp>
      <p:pic>
        <p:nvPicPr>
          <p:cNvPr id="18" name="Image 5" descr="/root/deck/icons/check_navy.png">    </p:cNvPr>
          <p:cNvPicPr>
            <a:picLocks noChangeAspect="1"/>
          </p:cNvPicPr>
          <p:nvPr/>
        </p:nvPicPr>
        <p:blipFill>
          <a:blip r:embed="rId6"/>
          <a:stretch>
            <a:fillRect/>
          </a:stretch>
        </p:blipFill>
        <p:spPr>
          <a:xfrm>
            <a:off x="6507328" y="3017520"/>
            <a:ext cx="365760" cy="365760"/>
          </a:xfrm>
          <a:prstGeom prst="rect">
            <a:avLst/>
          </a:prstGeom>
        </p:spPr>
      </p:pic>
      <p:sp>
        <p:nvSpPr>
          <p:cNvPr id="19" name="Text 11"/>
          <p:cNvSpPr txBox="1"/>
          <p:nvPr/>
        </p:nvSpPr>
        <p:spPr>
          <a:xfrm>
            <a:off x="7010248" y="3017520"/>
            <a:ext cx="4175608" cy="365760"/>
          </a:xfrm>
          <a:prstGeom prst="rect">
            <a:avLst/>
          </a:prstGeom>
          <a:noFill/>
          <a:ln/>
        </p:spPr>
        <p:txBody>
          <a:bodyPr wrap="square" lIns="0" tIns="0" rIns="0" bIns="0" rtlCol="0" anchor="ctr"/>
          <a:lstStyle/>
          <a:p>
            <a:pPr indent="0" marL="0">
              <a:buNone/>
            </a:pPr>
            <a:r>
              <a:rPr lang="en-US" sz="1500" b="1" dirty="0">
                <a:solidFill>
                  <a:srgbClr val="1D365B"/>
                </a:solidFill>
                <a:latin typeface="Bricolage Grotesque" pitchFamily="34" charset="0"/>
                <a:ea typeface="Bricolage Grotesque" pitchFamily="34" charset="-122"/>
                <a:cs typeface="Bricolage Grotesque" pitchFamily="34" charset="-120"/>
              </a:rPr>
              <a:t>Ontario curriculum and credits</a:t>
            </a:r>
            <a:endParaRPr lang="en-US" sz="1500" dirty="0"/>
          </a:p>
        </p:txBody>
      </p:sp>
      <p:pic>
        <p:nvPicPr>
          <p:cNvPr id="20" name="Image 6" descr="/root/deck/icons/check_navy.png">    </p:cNvPr>
          <p:cNvPicPr>
            <a:picLocks noChangeAspect="1"/>
          </p:cNvPicPr>
          <p:nvPr/>
        </p:nvPicPr>
        <p:blipFill>
          <a:blip r:embed="rId7"/>
          <a:stretch>
            <a:fillRect/>
          </a:stretch>
        </p:blipFill>
        <p:spPr>
          <a:xfrm>
            <a:off x="6507328" y="3520440"/>
            <a:ext cx="365760" cy="365760"/>
          </a:xfrm>
          <a:prstGeom prst="rect">
            <a:avLst/>
          </a:prstGeom>
        </p:spPr>
      </p:pic>
      <p:sp>
        <p:nvSpPr>
          <p:cNvPr id="21" name="Text 12"/>
          <p:cNvSpPr txBox="1"/>
          <p:nvPr/>
        </p:nvSpPr>
        <p:spPr>
          <a:xfrm>
            <a:off x="7010248" y="3520440"/>
            <a:ext cx="4175608" cy="365760"/>
          </a:xfrm>
          <a:prstGeom prst="rect">
            <a:avLst/>
          </a:prstGeom>
          <a:noFill/>
          <a:ln/>
        </p:spPr>
        <p:txBody>
          <a:bodyPr wrap="square" lIns="0" tIns="0" rIns="0" bIns="0" rtlCol="0" anchor="ctr"/>
          <a:lstStyle/>
          <a:p>
            <a:pPr indent="0" marL="0">
              <a:buNone/>
            </a:pPr>
            <a:r>
              <a:rPr lang="en-US" sz="1500" b="1" dirty="0">
                <a:solidFill>
                  <a:srgbClr val="1D365B"/>
                </a:solidFill>
                <a:latin typeface="Bricolage Grotesque" pitchFamily="34" charset="0"/>
                <a:ea typeface="Bricolage Grotesque" pitchFamily="34" charset="-122"/>
                <a:cs typeface="Bricolage Grotesque" pitchFamily="34" charset="-120"/>
              </a:rPr>
              <a:t>Certified Ontario teachers</a:t>
            </a:r>
            <a:endParaRPr lang="en-US" sz="1500" dirty="0"/>
          </a:p>
        </p:txBody>
      </p:sp>
      <p:pic>
        <p:nvPicPr>
          <p:cNvPr id="22" name="Image 7" descr="/root/deck/icons/check_navy.png">    </p:cNvPr>
          <p:cNvPicPr>
            <a:picLocks noChangeAspect="1"/>
          </p:cNvPicPr>
          <p:nvPr/>
        </p:nvPicPr>
        <p:blipFill>
          <a:blip r:embed="rId8"/>
          <a:stretch>
            <a:fillRect/>
          </a:stretch>
        </p:blipFill>
        <p:spPr>
          <a:xfrm>
            <a:off x="6507328" y="4023360"/>
            <a:ext cx="365760" cy="365760"/>
          </a:xfrm>
          <a:prstGeom prst="rect">
            <a:avLst/>
          </a:prstGeom>
        </p:spPr>
      </p:pic>
      <p:sp>
        <p:nvSpPr>
          <p:cNvPr id="23" name="Text 13"/>
          <p:cNvSpPr txBox="1"/>
          <p:nvPr/>
        </p:nvSpPr>
        <p:spPr>
          <a:xfrm>
            <a:off x="7010248" y="4023360"/>
            <a:ext cx="4175608" cy="365760"/>
          </a:xfrm>
          <a:prstGeom prst="rect">
            <a:avLst/>
          </a:prstGeom>
          <a:noFill/>
          <a:ln/>
        </p:spPr>
        <p:txBody>
          <a:bodyPr wrap="square" lIns="0" tIns="0" rIns="0" bIns="0" rtlCol="0" anchor="ctr"/>
          <a:lstStyle/>
          <a:p>
            <a:pPr indent="0" marL="0">
              <a:buNone/>
            </a:pPr>
            <a:r>
              <a:rPr lang="en-US" sz="1500" b="1" dirty="0">
                <a:solidFill>
                  <a:srgbClr val="1D365B"/>
                </a:solidFill>
                <a:latin typeface="Bricolage Grotesque" pitchFamily="34" charset="0"/>
                <a:ea typeface="Bricolage Grotesque" pitchFamily="34" charset="-122"/>
                <a:cs typeface="Bricolage Grotesque" pitchFamily="34" charset="-120"/>
              </a:rPr>
              <a:t>Assessment and report cards</a:t>
            </a:r>
            <a:endParaRPr lang="en-US" sz="1500" dirty="0"/>
          </a:p>
        </p:txBody>
      </p:sp>
      <p:pic>
        <p:nvPicPr>
          <p:cNvPr id="24" name="Image 8" descr="/root/deck/icons/check_navy.png">    </p:cNvPr>
          <p:cNvPicPr>
            <a:picLocks noChangeAspect="1"/>
          </p:cNvPicPr>
          <p:nvPr/>
        </p:nvPicPr>
        <p:blipFill>
          <a:blip r:embed="rId9"/>
          <a:stretch>
            <a:fillRect/>
          </a:stretch>
        </p:blipFill>
        <p:spPr>
          <a:xfrm>
            <a:off x="6507328" y="4526280"/>
            <a:ext cx="365760" cy="365760"/>
          </a:xfrm>
          <a:prstGeom prst="rect">
            <a:avLst/>
          </a:prstGeom>
        </p:spPr>
      </p:pic>
      <p:sp>
        <p:nvSpPr>
          <p:cNvPr id="25" name="Text 14"/>
          <p:cNvSpPr txBox="1"/>
          <p:nvPr/>
        </p:nvSpPr>
        <p:spPr>
          <a:xfrm>
            <a:off x="7010248" y="4526280"/>
            <a:ext cx="4175608" cy="365760"/>
          </a:xfrm>
          <a:prstGeom prst="rect">
            <a:avLst/>
          </a:prstGeom>
          <a:noFill/>
          <a:ln/>
        </p:spPr>
        <p:txBody>
          <a:bodyPr wrap="square" lIns="0" tIns="0" rIns="0" bIns="0" rtlCol="0" anchor="ctr"/>
          <a:lstStyle/>
          <a:p>
            <a:pPr indent="0" marL="0">
              <a:buNone/>
            </a:pPr>
            <a:r>
              <a:rPr lang="en-US" sz="1500" b="1" dirty="0">
                <a:solidFill>
                  <a:srgbClr val="1D365B"/>
                </a:solidFill>
                <a:latin typeface="Bricolage Grotesque" pitchFamily="34" charset="0"/>
                <a:ea typeface="Bricolage Grotesque" pitchFamily="34" charset="-122"/>
                <a:cs typeface="Bricolage Grotesque" pitchFamily="34" charset="-120"/>
              </a:rPr>
              <a:t>Ontario Student Records and transcripts</a:t>
            </a:r>
            <a:endParaRPr lang="en-US" sz="1500" dirty="0"/>
          </a:p>
        </p:txBody>
      </p:sp>
      <p:pic>
        <p:nvPicPr>
          <p:cNvPr id="26" name="Image 9" descr="/root/deck/icons/check_navy.png">    </p:cNvPr>
          <p:cNvPicPr>
            <a:picLocks noChangeAspect="1"/>
          </p:cNvPicPr>
          <p:nvPr/>
        </p:nvPicPr>
        <p:blipFill>
          <a:blip r:embed="rId10"/>
          <a:stretch>
            <a:fillRect/>
          </a:stretch>
        </p:blipFill>
        <p:spPr>
          <a:xfrm>
            <a:off x="6507328" y="5029200"/>
            <a:ext cx="365760" cy="365760"/>
          </a:xfrm>
          <a:prstGeom prst="rect">
            <a:avLst/>
          </a:prstGeom>
        </p:spPr>
      </p:pic>
      <p:sp>
        <p:nvSpPr>
          <p:cNvPr id="27" name="Text 15"/>
          <p:cNvSpPr txBox="1"/>
          <p:nvPr/>
        </p:nvSpPr>
        <p:spPr>
          <a:xfrm>
            <a:off x="7010248" y="5029200"/>
            <a:ext cx="4175608" cy="365760"/>
          </a:xfrm>
          <a:prstGeom prst="rect">
            <a:avLst/>
          </a:prstGeom>
          <a:noFill/>
          <a:ln/>
        </p:spPr>
        <p:txBody>
          <a:bodyPr wrap="square" lIns="0" tIns="0" rIns="0" bIns="0" rtlCol="0" anchor="ctr"/>
          <a:lstStyle/>
          <a:p>
            <a:pPr indent="0" marL="0">
              <a:buNone/>
            </a:pPr>
            <a:r>
              <a:rPr lang="en-US" sz="1500" b="1" dirty="0">
                <a:solidFill>
                  <a:srgbClr val="1D365B"/>
                </a:solidFill>
                <a:latin typeface="Bricolage Grotesque" pitchFamily="34" charset="0"/>
                <a:ea typeface="Bricolage Grotesque" pitchFamily="34" charset="-122"/>
                <a:cs typeface="Bricolage Grotesque" pitchFamily="34" charset="-120"/>
              </a:rPr>
              <a:t>Ministry compliance and guidance</a:t>
            </a:r>
            <a:endParaRPr lang="en-US" sz="1500" dirty="0"/>
          </a:p>
        </p:txBody>
      </p:sp>
      <p:sp>
        <p:nvSpPr>
          <p:cNvPr id="28" name="Text 16"/>
          <p:cNvSpPr txBox="1"/>
          <p:nvPr/>
        </p:nvSpPr>
        <p:spPr>
          <a:xfrm>
            <a:off x="685800" y="6355080"/>
            <a:ext cx="3657600" cy="274320"/>
          </a:xfrm>
          <a:prstGeom prst="rect">
            <a:avLst/>
          </a:prstGeom>
          <a:noFill/>
          <a:ln/>
        </p:spPr>
        <p:txBody>
          <a:bodyPr wrap="square" lIns="0" tIns="0" rIns="0" bIns="0" rtlCol="0" anchor="ctr"/>
          <a:lstStyle/>
          <a:p>
            <a:pPr indent="0" marL="0">
              <a:buNone/>
            </a:pPr>
            <a:r>
              <a:rPr lang="en-US" sz="900" dirty="0">
                <a:solidFill>
                  <a:srgbClr val="B9C7DA"/>
                </a:solidFill>
                <a:latin typeface="Figtree" pitchFamily="34" charset="0"/>
                <a:ea typeface="Figtree" pitchFamily="34" charset="-122"/>
                <a:cs typeface="Figtree" pitchFamily="34" charset="-120"/>
              </a:rPr>
              <a:t>Toronto Global Academy</a:t>
            </a:r>
            <a:endParaRPr lang="en-US" sz="900" dirty="0"/>
          </a:p>
        </p:txBody>
      </p:sp>
      <p:sp>
        <p:nvSpPr>
          <p:cNvPr id="29" name="Text 17"/>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900" dirty="0">
                <a:solidFill>
                  <a:srgbClr val="B9C7DA"/>
                </a:solidFill>
                <a:latin typeface="Figtree" pitchFamily="34" charset="0"/>
                <a:ea typeface="Figtree" pitchFamily="34" charset="-122"/>
                <a:cs typeface="Figtree"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94360"/>
            <a:ext cx="7315200" cy="274320"/>
          </a:xfrm>
          <a:prstGeom prst="rect">
            <a:avLst/>
          </a:prstGeom>
          <a:noFill/>
          <a:ln/>
        </p:spPr>
        <p:txBody>
          <a:bodyPr wrap="square" lIns="0" tIns="0" rIns="0" bIns="0" rtlCol="0" anchor="ctr"/>
          <a:lstStyle/>
          <a:p>
            <a:pPr indent="0" marL="0">
              <a:buNone/>
            </a:pPr>
            <a:r>
              <a:rPr lang="en-US" sz="1000" b="1" spc="300" kern="0" dirty="0">
                <a:solidFill>
                  <a:srgbClr val="6F8197"/>
                </a:solidFill>
                <a:latin typeface="Figtree" pitchFamily="34" charset="0"/>
                <a:ea typeface="Figtree" pitchFamily="34" charset="-122"/>
                <a:cs typeface="Figtree" pitchFamily="34" charset="-120"/>
              </a:rPr>
              <a:t>A DAY INSIDE YOUR MADRASAH</a:t>
            </a:r>
            <a:endParaRPr lang="en-US" sz="1000" dirty="0"/>
          </a:p>
        </p:txBody>
      </p:sp>
      <p:sp>
        <p:nvSpPr>
          <p:cNvPr id="3" name="Text 1"/>
          <p:cNvSpPr txBox="1"/>
          <p:nvPr/>
        </p:nvSpPr>
        <p:spPr>
          <a:xfrm>
            <a:off x="685800" y="914400"/>
            <a:ext cx="8686800" cy="1463040"/>
          </a:xfrm>
          <a:prstGeom prst="rect">
            <a:avLst/>
          </a:prstGeom>
          <a:noFill/>
          <a:ln/>
        </p:spPr>
        <p:txBody>
          <a:bodyPr wrap="square" lIns="0" tIns="0" rIns="0" bIns="0" rtlCol="0" anchor="t"/>
          <a:lstStyle/>
          <a:p>
            <a:pPr indent="0" marL="0">
              <a:lnSpc>
                <a:spcPct val="105000"/>
              </a:lnSpc>
              <a:buNone/>
            </a:pPr>
            <a:r>
              <a:rPr lang="en-US" sz="3400" b="1" dirty="0">
                <a:solidFill>
                  <a:srgbClr val="1D365B"/>
                </a:solidFill>
                <a:latin typeface="Bricolage Grotesque" pitchFamily="34" charset="0"/>
                <a:ea typeface="Bricolage Grotesque" pitchFamily="34" charset="-122"/>
                <a:cs typeface="Bricolage Grotesque" pitchFamily="34" charset="-120"/>
              </a:rPr>
              <a:t>Same building, same students, same supervision. TGA teaches inside the academic block.</a:t>
            </a:r>
            <a:endParaRPr lang="en-US" sz="3400" dirty="0"/>
          </a:p>
        </p:txBody>
      </p:sp>
      <p:sp>
        <p:nvSpPr>
          <p:cNvPr id="4" name="Shape 2"/>
          <p:cNvSpPr/>
          <p:nvPr/>
        </p:nvSpPr>
        <p:spPr>
          <a:xfrm>
            <a:off x="914400" y="2926080"/>
            <a:ext cx="10362895" cy="0"/>
          </a:xfrm>
          <a:prstGeom prst="line">
            <a:avLst/>
          </a:prstGeom>
          <a:noFill/>
          <a:ln w="19050">
            <a:solidFill>
              <a:srgbClr val="D5DDE8"/>
            </a:solidFill>
            <a:prstDash val="solid"/>
          </a:ln>
        </p:spPr>
      </p:sp>
      <p:sp>
        <p:nvSpPr>
          <p:cNvPr id="5" name="Shape 3"/>
          <p:cNvSpPr/>
          <p:nvPr/>
        </p:nvSpPr>
        <p:spPr>
          <a:xfrm>
            <a:off x="685800" y="2697480"/>
            <a:ext cx="457200" cy="457200"/>
          </a:xfrm>
          <a:prstGeom prst="ellipse">
            <a:avLst/>
          </a:prstGeom>
          <a:solidFill>
            <a:srgbClr val="1D365B"/>
          </a:solidFill>
          <a:ln w="12700">
            <a:solidFill>
              <a:srgbClr val="1D365B"/>
            </a:solidFill>
            <a:prstDash val="solid"/>
          </a:ln>
        </p:spPr>
      </p:sp>
      <p:sp>
        <p:nvSpPr>
          <p:cNvPr id="6" name="Text 4"/>
          <p:cNvSpPr txBox="1"/>
          <p:nvPr/>
        </p:nvSpPr>
        <p:spPr>
          <a:xfrm>
            <a:off x="685800"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ricolage Grotesque" pitchFamily="34" charset="0"/>
                <a:ea typeface="Bricolage Grotesque" pitchFamily="34" charset="-122"/>
                <a:cs typeface="Bricolage Grotesque" pitchFamily="34" charset="-120"/>
              </a:rPr>
              <a:t>1</a:t>
            </a:r>
            <a:endParaRPr lang="en-US" sz="1600" dirty="0"/>
          </a:p>
        </p:txBody>
      </p:sp>
      <p:sp>
        <p:nvSpPr>
          <p:cNvPr id="7" name="Text 5"/>
          <p:cNvSpPr txBox="1"/>
          <p:nvPr/>
        </p:nvSpPr>
        <p:spPr>
          <a:xfrm>
            <a:off x="685800" y="3337560"/>
            <a:ext cx="2499284" cy="365760"/>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Morning</a:t>
            </a:r>
            <a:endParaRPr lang="en-US" sz="1600" dirty="0"/>
          </a:p>
        </p:txBody>
      </p:sp>
      <p:sp>
        <p:nvSpPr>
          <p:cNvPr id="8" name="Text 6"/>
          <p:cNvSpPr txBox="1"/>
          <p:nvPr/>
        </p:nvSpPr>
        <p:spPr>
          <a:xfrm>
            <a:off x="685800" y="3703320"/>
            <a:ext cx="2499284" cy="109728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Quran and hifdh with your teachers, exactly as today.</a:t>
            </a:r>
            <a:endParaRPr lang="en-US" sz="1250" dirty="0"/>
          </a:p>
        </p:txBody>
      </p:sp>
      <p:sp>
        <p:nvSpPr>
          <p:cNvPr id="9" name="Shape 7"/>
          <p:cNvSpPr/>
          <p:nvPr/>
        </p:nvSpPr>
        <p:spPr>
          <a:xfrm>
            <a:off x="3459404" y="2697480"/>
            <a:ext cx="457200" cy="457200"/>
          </a:xfrm>
          <a:prstGeom prst="ellipse">
            <a:avLst/>
          </a:prstGeom>
          <a:solidFill>
            <a:srgbClr val="1D365B"/>
          </a:solidFill>
          <a:ln w="12700">
            <a:solidFill>
              <a:srgbClr val="1D365B"/>
            </a:solidFill>
            <a:prstDash val="solid"/>
          </a:ln>
        </p:spPr>
      </p:sp>
      <p:sp>
        <p:nvSpPr>
          <p:cNvPr id="10" name="Text 8"/>
          <p:cNvSpPr txBox="1"/>
          <p:nvPr/>
        </p:nvSpPr>
        <p:spPr>
          <a:xfrm>
            <a:off x="3459404"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ricolage Grotesque" pitchFamily="34" charset="0"/>
                <a:ea typeface="Bricolage Grotesque" pitchFamily="34" charset="-122"/>
                <a:cs typeface="Bricolage Grotesque" pitchFamily="34" charset="-120"/>
              </a:rPr>
              <a:t>2</a:t>
            </a:r>
            <a:endParaRPr lang="en-US" sz="1600" dirty="0"/>
          </a:p>
        </p:txBody>
      </p:sp>
      <p:sp>
        <p:nvSpPr>
          <p:cNvPr id="11" name="Text 9"/>
          <p:cNvSpPr txBox="1"/>
          <p:nvPr/>
        </p:nvSpPr>
        <p:spPr>
          <a:xfrm>
            <a:off x="3459404" y="3337560"/>
            <a:ext cx="2499284" cy="365760"/>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Academic block</a:t>
            </a:r>
            <a:endParaRPr lang="en-US" sz="1600" dirty="0"/>
          </a:p>
        </p:txBody>
      </p:sp>
      <p:sp>
        <p:nvSpPr>
          <p:cNvPr id="12" name="Text 10"/>
          <p:cNvSpPr txBox="1"/>
          <p:nvPr/>
        </p:nvSpPr>
        <p:spPr>
          <a:xfrm>
            <a:off x="3459404" y="3703320"/>
            <a:ext cx="2499284" cy="109728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Students log into their TGA courses on site. Your staff supervise the room. TGA teachers teach, mark and give feedback.</a:t>
            </a:r>
            <a:endParaRPr lang="en-US" sz="1250" dirty="0"/>
          </a:p>
        </p:txBody>
      </p:sp>
      <p:sp>
        <p:nvSpPr>
          <p:cNvPr id="13" name="Shape 11"/>
          <p:cNvSpPr/>
          <p:nvPr/>
        </p:nvSpPr>
        <p:spPr>
          <a:xfrm>
            <a:off x="6233008" y="2697480"/>
            <a:ext cx="457200" cy="457200"/>
          </a:xfrm>
          <a:prstGeom prst="ellipse">
            <a:avLst/>
          </a:prstGeom>
          <a:solidFill>
            <a:srgbClr val="1D365B"/>
          </a:solidFill>
          <a:ln w="12700">
            <a:solidFill>
              <a:srgbClr val="1D365B"/>
            </a:solidFill>
            <a:prstDash val="solid"/>
          </a:ln>
        </p:spPr>
      </p:sp>
      <p:sp>
        <p:nvSpPr>
          <p:cNvPr id="14" name="Text 12"/>
          <p:cNvSpPr txBox="1"/>
          <p:nvPr/>
        </p:nvSpPr>
        <p:spPr>
          <a:xfrm>
            <a:off x="6233008" y="2697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ricolage Grotesque" pitchFamily="34" charset="0"/>
                <a:ea typeface="Bricolage Grotesque" pitchFamily="34" charset="-122"/>
                <a:cs typeface="Bricolage Grotesque" pitchFamily="34" charset="-120"/>
              </a:rPr>
              <a:t>3</a:t>
            </a:r>
            <a:endParaRPr lang="en-US" sz="1600" dirty="0"/>
          </a:p>
        </p:txBody>
      </p:sp>
      <p:sp>
        <p:nvSpPr>
          <p:cNvPr id="15" name="Text 13"/>
          <p:cNvSpPr txBox="1"/>
          <p:nvPr/>
        </p:nvSpPr>
        <p:spPr>
          <a:xfrm>
            <a:off x="6233008" y="3337560"/>
            <a:ext cx="2499284" cy="365760"/>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Live support</a:t>
            </a:r>
            <a:endParaRPr lang="en-US" sz="1600" dirty="0"/>
          </a:p>
        </p:txBody>
      </p:sp>
      <p:sp>
        <p:nvSpPr>
          <p:cNvPr id="16" name="Text 14"/>
          <p:cNvSpPr txBox="1"/>
          <p:nvPr/>
        </p:nvSpPr>
        <p:spPr>
          <a:xfrm>
            <a:off x="6233008" y="3703320"/>
            <a:ext cx="2499284" cy="109728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Scheduled teacher conferences, weekly drop in sessions and tutorials on top of the course work.</a:t>
            </a:r>
            <a:endParaRPr lang="en-US" sz="1250" dirty="0"/>
          </a:p>
        </p:txBody>
      </p:sp>
      <p:sp>
        <p:nvSpPr>
          <p:cNvPr id="17" name="Shape 15"/>
          <p:cNvSpPr/>
          <p:nvPr/>
        </p:nvSpPr>
        <p:spPr>
          <a:xfrm>
            <a:off x="9006611" y="2697480"/>
            <a:ext cx="457200" cy="457200"/>
          </a:xfrm>
          <a:prstGeom prst="ellipse">
            <a:avLst/>
          </a:prstGeom>
          <a:solidFill>
            <a:srgbClr val="FFAE04"/>
          </a:solidFill>
          <a:ln w="12700">
            <a:solidFill>
              <a:srgbClr val="FFAE04"/>
            </a:solidFill>
            <a:prstDash val="solid"/>
          </a:ln>
        </p:spPr>
      </p:sp>
      <p:sp>
        <p:nvSpPr>
          <p:cNvPr id="18" name="Text 16"/>
          <p:cNvSpPr txBox="1"/>
          <p:nvPr/>
        </p:nvSpPr>
        <p:spPr>
          <a:xfrm>
            <a:off x="9006611" y="2697480"/>
            <a:ext cx="457200" cy="457200"/>
          </a:xfrm>
          <a:prstGeom prst="rect">
            <a:avLst/>
          </a:prstGeom>
          <a:noFill/>
          <a:ln/>
        </p:spPr>
        <p:txBody>
          <a:bodyPr wrap="square" lIns="0" tIns="0" rIns="0" bIns="0" rtlCol="0" anchor="ctr"/>
          <a:lstStyle/>
          <a:p>
            <a:pPr algn="ct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4</a:t>
            </a:r>
            <a:endParaRPr lang="en-US" sz="1600" dirty="0"/>
          </a:p>
        </p:txBody>
      </p:sp>
      <p:sp>
        <p:nvSpPr>
          <p:cNvPr id="19" name="Text 17"/>
          <p:cNvSpPr txBox="1"/>
          <p:nvPr/>
        </p:nvSpPr>
        <p:spPr>
          <a:xfrm>
            <a:off x="9006611" y="3337560"/>
            <a:ext cx="2499284" cy="365760"/>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Assessment and reports</a:t>
            </a:r>
            <a:endParaRPr lang="en-US" sz="1600" dirty="0"/>
          </a:p>
        </p:txBody>
      </p:sp>
      <p:sp>
        <p:nvSpPr>
          <p:cNvPr id="20" name="Text 18"/>
          <p:cNvSpPr txBox="1"/>
          <p:nvPr/>
        </p:nvSpPr>
        <p:spPr>
          <a:xfrm>
            <a:off x="9006611" y="3703320"/>
            <a:ext cx="2499284" cy="109728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Proctored final evaluations, a formal midpoint report and a final report for every course.</a:t>
            </a:r>
            <a:endParaRPr lang="en-US" sz="1250" dirty="0"/>
          </a:p>
        </p:txBody>
      </p:sp>
      <p:sp>
        <p:nvSpPr>
          <p:cNvPr id="21" name="Shape 19"/>
          <p:cNvSpPr/>
          <p:nvPr/>
        </p:nvSpPr>
        <p:spPr>
          <a:xfrm>
            <a:off x="685800" y="5029200"/>
            <a:ext cx="3484778" cy="960120"/>
          </a:xfrm>
          <a:prstGeom prst="roundRect">
            <a:avLst>
              <a:gd name="adj" fmla="val 15238"/>
            </a:avLst>
          </a:prstGeom>
          <a:solidFill>
            <a:srgbClr val="E7EDF4"/>
          </a:solidFill>
          <a:ln w="12700">
            <a:solidFill>
              <a:srgbClr val="E7EDF4"/>
            </a:solidFill>
            <a:prstDash val="solid"/>
          </a:ln>
        </p:spPr>
      </p:sp>
      <p:sp>
        <p:nvSpPr>
          <p:cNvPr id="22" name="Text 20"/>
          <p:cNvSpPr txBox="1"/>
          <p:nvPr/>
        </p:nvSpPr>
        <p:spPr>
          <a:xfrm>
            <a:off x="886968" y="5138928"/>
            <a:ext cx="3082442" cy="749808"/>
          </a:xfrm>
          <a:prstGeom prst="rect">
            <a:avLst/>
          </a:prstGeom>
          <a:noFill/>
          <a:ln/>
        </p:spPr>
        <p:txBody>
          <a:bodyPr wrap="square" lIns="0" tIns="0" rIns="0" bIns="0" rtlCol="0" anchor="ctr"/>
          <a:lstStyle/>
          <a:p>
            <a:pPr indent="0" marL="0">
              <a:lnSpc>
                <a:spcPct val="115000"/>
              </a:lnSpc>
              <a:buNone/>
            </a:pPr>
            <a:r>
              <a:rPr lang="en-US" sz="1150" b="1" dirty="0">
                <a:solidFill>
                  <a:srgbClr val="1D365B"/>
                </a:solidFill>
                <a:latin typeface="Figtree" pitchFamily="34" charset="0"/>
                <a:ea typeface="Figtree" pitchFamily="34" charset="-122"/>
                <a:cs typeface="Figtree" pitchFamily="34" charset="-120"/>
              </a:rPr>
              <a:t>Continuous intake.</a:t>
            </a:r>
            <a:pPr indent="0" marL="0">
              <a:lnSpc>
                <a:spcPct val="115000"/>
              </a:lnSpc>
              <a:buNone/>
            </a:pPr>
            <a:r>
              <a:rPr lang="en-US" sz="1150" dirty="0">
                <a:solidFill>
                  <a:srgbClr val="46566D"/>
                </a:solidFill>
                <a:latin typeface="Figtree" pitchFamily="34" charset="0"/>
                <a:ea typeface="Figtree" pitchFamily="34" charset="-122"/>
                <a:cs typeface="Figtree" pitchFamily="34" charset="-120"/>
              </a:rPr>
              <a:t> A student can start any month, no waiting for September.</a:t>
            </a:r>
            <a:endParaRPr lang="en-US" sz="1150" dirty="0"/>
          </a:p>
        </p:txBody>
      </p:sp>
      <p:sp>
        <p:nvSpPr>
          <p:cNvPr id="23" name="Shape 21"/>
          <p:cNvSpPr/>
          <p:nvPr/>
        </p:nvSpPr>
        <p:spPr>
          <a:xfrm>
            <a:off x="4353458" y="5029200"/>
            <a:ext cx="3484778" cy="960120"/>
          </a:xfrm>
          <a:prstGeom prst="roundRect">
            <a:avLst>
              <a:gd name="adj" fmla="val 15238"/>
            </a:avLst>
          </a:prstGeom>
          <a:solidFill>
            <a:srgbClr val="E7EDF4"/>
          </a:solidFill>
          <a:ln w="12700">
            <a:solidFill>
              <a:srgbClr val="E7EDF4"/>
            </a:solidFill>
            <a:prstDash val="solid"/>
          </a:ln>
        </p:spPr>
      </p:sp>
      <p:sp>
        <p:nvSpPr>
          <p:cNvPr id="24" name="Text 22"/>
          <p:cNvSpPr txBox="1"/>
          <p:nvPr/>
        </p:nvSpPr>
        <p:spPr>
          <a:xfrm>
            <a:off x="4554626" y="5138928"/>
            <a:ext cx="3082442" cy="749808"/>
          </a:xfrm>
          <a:prstGeom prst="rect">
            <a:avLst/>
          </a:prstGeom>
          <a:noFill/>
          <a:ln/>
        </p:spPr>
        <p:txBody>
          <a:bodyPr wrap="square" lIns="0" tIns="0" rIns="0" bIns="0" rtlCol="0" anchor="ctr"/>
          <a:lstStyle/>
          <a:p>
            <a:pPr indent="0" marL="0">
              <a:lnSpc>
                <a:spcPct val="115000"/>
              </a:lnSpc>
              <a:buNone/>
            </a:pPr>
            <a:r>
              <a:rPr lang="en-US" sz="1150" b="1" dirty="0">
                <a:solidFill>
                  <a:srgbClr val="1D365B"/>
                </a:solidFill>
                <a:latin typeface="Figtree" pitchFamily="34" charset="0"/>
                <a:ea typeface="Figtree" pitchFamily="34" charset="-122"/>
                <a:cs typeface="Figtree" pitchFamily="34" charset="-120"/>
              </a:rPr>
              <a:t>Own pace.</a:t>
            </a:r>
            <a:pPr indent="0" marL="0">
              <a:lnSpc>
                <a:spcPct val="115000"/>
              </a:lnSpc>
              <a:buNone/>
            </a:pPr>
            <a:r>
              <a:rPr lang="en-US" sz="1150" dirty="0">
                <a:solidFill>
                  <a:srgbClr val="46566D"/>
                </a:solidFill>
                <a:latin typeface="Figtree" pitchFamily="34" charset="0"/>
                <a:ea typeface="Figtree" pitchFamily="34" charset="-122"/>
                <a:cs typeface="Figtree" pitchFamily="34" charset="-120"/>
              </a:rPr>
              <a:t> Each student has an individual course plan with a start date, a completion date and reporting points.</a:t>
            </a:r>
            <a:endParaRPr lang="en-US" sz="1150" dirty="0"/>
          </a:p>
        </p:txBody>
      </p:sp>
      <p:sp>
        <p:nvSpPr>
          <p:cNvPr id="25" name="Shape 23"/>
          <p:cNvSpPr/>
          <p:nvPr/>
        </p:nvSpPr>
        <p:spPr>
          <a:xfrm>
            <a:off x="8021117" y="5029200"/>
            <a:ext cx="3484778" cy="960120"/>
          </a:xfrm>
          <a:prstGeom prst="roundRect">
            <a:avLst>
              <a:gd name="adj" fmla="val 15238"/>
            </a:avLst>
          </a:prstGeom>
          <a:solidFill>
            <a:srgbClr val="E7EDF4"/>
          </a:solidFill>
          <a:ln w="12700">
            <a:solidFill>
              <a:srgbClr val="E7EDF4"/>
            </a:solidFill>
            <a:prstDash val="solid"/>
          </a:ln>
        </p:spPr>
      </p:sp>
      <p:sp>
        <p:nvSpPr>
          <p:cNvPr id="26" name="Text 24"/>
          <p:cNvSpPr txBox="1"/>
          <p:nvPr/>
        </p:nvSpPr>
        <p:spPr>
          <a:xfrm>
            <a:off x="8222285" y="5138928"/>
            <a:ext cx="3082442" cy="749808"/>
          </a:xfrm>
          <a:prstGeom prst="rect">
            <a:avLst/>
          </a:prstGeom>
          <a:noFill/>
          <a:ln/>
        </p:spPr>
        <p:txBody>
          <a:bodyPr wrap="square" lIns="0" tIns="0" rIns="0" bIns="0" rtlCol="0" anchor="ctr"/>
          <a:lstStyle/>
          <a:p>
            <a:pPr indent="0" marL="0">
              <a:lnSpc>
                <a:spcPct val="115000"/>
              </a:lnSpc>
              <a:buNone/>
            </a:pPr>
            <a:r>
              <a:rPr lang="en-US" sz="1150" b="1" dirty="0">
                <a:solidFill>
                  <a:srgbClr val="1D365B"/>
                </a:solidFill>
                <a:latin typeface="Figtree" pitchFamily="34" charset="0"/>
                <a:ea typeface="Figtree" pitchFamily="34" charset="-122"/>
                <a:cs typeface="Figtree" pitchFamily="34" charset="-120"/>
              </a:rPr>
              <a:t>No teachers to hire.</a:t>
            </a:r>
            <a:pPr indent="0" marL="0">
              <a:lnSpc>
                <a:spcPct val="115000"/>
              </a:lnSpc>
              <a:buNone/>
            </a:pPr>
            <a:r>
              <a:rPr lang="en-US" sz="1150" dirty="0">
                <a:solidFill>
                  <a:srgbClr val="46566D"/>
                </a:solidFill>
                <a:latin typeface="Figtree" pitchFamily="34" charset="0"/>
                <a:ea typeface="Figtree" pitchFamily="34" charset="-122"/>
                <a:cs typeface="Figtree" pitchFamily="34" charset="-120"/>
              </a:rPr>
              <a:t> You provide a room, a device and a supervisor. TGA provides the rest.</a:t>
            </a:r>
            <a:endParaRPr lang="en-US" sz="1150" dirty="0"/>
          </a:p>
        </p:txBody>
      </p:sp>
      <p:sp>
        <p:nvSpPr>
          <p:cNvPr id="27" name="Text 25"/>
          <p:cNvSpPr txBox="1"/>
          <p:nvPr/>
        </p:nvSpPr>
        <p:spPr>
          <a:xfrm>
            <a:off x="685800" y="6355080"/>
            <a:ext cx="3657600" cy="274320"/>
          </a:xfrm>
          <a:prstGeom prst="rect">
            <a:avLst/>
          </a:prstGeom>
          <a:noFill/>
          <a:ln/>
        </p:spPr>
        <p:txBody>
          <a:bodyPr wrap="square" lIns="0" tIns="0" rIns="0" bIns="0" rtlCol="0" anchor="ctr"/>
          <a:lstStyle/>
          <a:p>
            <a:pPr indent="0" marL="0">
              <a:buNone/>
            </a:pPr>
            <a:r>
              <a:rPr lang="en-US" sz="900" dirty="0">
                <a:solidFill>
                  <a:srgbClr val="6F8197"/>
                </a:solidFill>
                <a:latin typeface="Figtree" pitchFamily="34" charset="0"/>
                <a:ea typeface="Figtree" pitchFamily="34" charset="-122"/>
                <a:cs typeface="Figtree" pitchFamily="34" charset="-120"/>
              </a:rPr>
              <a:t>Toronto Global Academy</a:t>
            </a:r>
            <a:endParaRPr lang="en-US" sz="900" dirty="0"/>
          </a:p>
        </p:txBody>
      </p:sp>
      <p:sp>
        <p:nvSpPr>
          <p:cNvPr id="28" name="Text 26"/>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900" dirty="0">
                <a:solidFill>
                  <a:srgbClr val="6F8197"/>
                </a:solidFill>
                <a:latin typeface="Figtree" pitchFamily="34" charset="0"/>
                <a:ea typeface="Figtree" pitchFamily="34" charset="-122"/>
                <a:cs typeface="Figtree"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7EDF4"/>
        </a:solidFill>
      </p:bgPr>
    </p:bg>
    <p:spTree>
      <p:nvGrpSpPr>
        <p:cNvPr id="1" name=""/>
        <p:cNvGrpSpPr/>
        <p:nvPr/>
      </p:nvGrpSpPr>
      <p:grpSpPr>
        <a:xfrm>
          <a:off x="0" y="0"/>
          <a:ext cx="0" cy="0"/>
          <a:chOff x="0" y="0"/>
          <a:chExt cx="0" cy="0"/>
        </a:xfrm>
      </p:grpSpPr>
      <p:sp>
        <p:nvSpPr>
          <p:cNvPr id="2" name="Text 0"/>
          <p:cNvSpPr txBox="1"/>
          <p:nvPr/>
        </p:nvSpPr>
        <p:spPr>
          <a:xfrm>
            <a:off x="685800" y="1005840"/>
            <a:ext cx="7315200" cy="274320"/>
          </a:xfrm>
          <a:prstGeom prst="rect">
            <a:avLst/>
          </a:prstGeom>
          <a:noFill/>
          <a:ln/>
        </p:spPr>
        <p:txBody>
          <a:bodyPr wrap="square" lIns="0" tIns="0" rIns="0" bIns="0" rtlCol="0" anchor="ctr"/>
          <a:lstStyle/>
          <a:p>
            <a:pPr indent="0" marL="0">
              <a:buNone/>
            </a:pPr>
            <a:r>
              <a:rPr lang="en-US" sz="1000" b="1" spc="300" kern="0" dirty="0">
                <a:solidFill>
                  <a:srgbClr val="6F8197"/>
                </a:solidFill>
                <a:latin typeface="Figtree" pitchFamily="34" charset="0"/>
                <a:ea typeface="Figtree" pitchFamily="34" charset="-122"/>
                <a:cs typeface="Figtree" pitchFamily="34" charset="-120"/>
              </a:rPr>
              <a:t>WHAT STUDENTS EARN</a:t>
            </a:r>
            <a:endParaRPr lang="en-US" sz="1000" dirty="0"/>
          </a:p>
        </p:txBody>
      </p:sp>
      <p:sp>
        <p:nvSpPr>
          <p:cNvPr id="3" name="Text 1"/>
          <p:cNvSpPr txBox="1"/>
          <p:nvPr/>
        </p:nvSpPr>
        <p:spPr>
          <a:xfrm>
            <a:off x="685800" y="1325880"/>
            <a:ext cx="9601200" cy="1188720"/>
          </a:xfrm>
          <a:prstGeom prst="rect">
            <a:avLst/>
          </a:prstGeom>
          <a:noFill/>
          <a:ln/>
        </p:spPr>
        <p:txBody>
          <a:bodyPr wrap="square" lIns="0" tIns="0" rIns="0" bIns="0" rtlCol="0" anchor="t"/>
          <a:lstStyle/>
          <a:p>
            <a:pPr indent="0" marL="0">
              <a:lnSpc>
                <a:spcPct val="105000"/>
              </a:lnSpc>
              <a:buNone/>
            </a:pPr>
            <a:r>
              <a:rPr lang="en-US" sz="3400" b="1" dirty="0">
                <a:solidFill>
                  <a:srgbClr val="1D365B"/>
                </a:solidFill>
                <a:latin typeface="Bricolage Grotesque" pitchFamily="34" charset="0"/>
                <a:ea typeface="Bricolage Grotesque" pitchFamily="34" charset="-122"/>
                <a:cs typeface="Bricolage Grotesque" pitchFamily="34" charset="-120"/>
              </a:rPr>
              <a:t>Real Ontario credits toward a real Ontario diploma.</a:t>
            </a:r>
            <a:endParaRPr lang="en-US" sz="3400" dirty="0"/>
          </a:p>
        </p:txBody>
      </p:sp>
      <p:sp>
        <p:nvSpPr>
          <p:cNvPr id="4" name="Shape 2"/>
          <p:cNvSpPr/>
          <p:nvPr/>
        </p:nvSpPr>
        <p:spPr>
          <a:xfrm>
            <a:off x="685800" y="2788920"/>
            <a:ext cx="2533574" cy="1554480"/>
          </a:xfrm>
          <a:prstGeom prst="roundRect">
            <a:avLst>
              <a:gd name="adj" fmla="val 9412"/>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sp>
        <p:nvSpPr>
          <p:cNvPr id="5" name="Text 3"/>
          <p:cNvSpPr txBox="1"/>
          <p:nvPr/>
        </p:nvSpPr>
        <p:spPr>
          <a:xfrm>
            <a:off x="914400" y="2971800"/>
            <a:ext cx="2076374" cy="822960"/>
          </a:xfrm>
          <a:prstGeom prst="rect">
            <a:avLst/>
          </a:prstGeom>
          <a:noFill/>
          <a:ln/>
        </p:spPr>
        <p:txBody>
          <a:bodyPr wrap="square" lIns="0" tIns="0" rIns="0" bIns="0" rtlCol="0" anchor="ctr"/>
          <a:lstStyle/>
          <a:p>
            <a:pPr indent="0" marL="0">
              <a:buNone/>
            </a:pPr>
            <a:r>
              <a:rPr lang="en-US" sz="4800" b="1" dirty="0">
                <a:solidFill>
                  <a:srgbClr val="1D365B"/>
                </a:solidFill>
                <a:latin typeface="Bricolage Grotesque" pitchFamily="34" charset="0"/>
                <a:ea typeface="Bricolage Grotesque" pitchFamily="34" charset="-122"/>
                <a:cs typeface="Bricolage Grotesque" pitchFamily="34" charset="-120"/>
              </a:rPr>
              <a:t>9–12</a:t>
            </a:r>
            <a:endParaRPr lang="en-US" sz="4800" dirty="0"/>
          </a:p>
        </p:txBody>
      </p:sp>
      <p:sp>
        <p:nvSpPr>
          <p:cNvPr id="6" name="Text 4"/>
          <p:cNvSpPr txBox="1"/>
          <p:nvPr/>
        </p:nvSpPr>
        <p:spPr>
          <a:xfrm>
            <a:off x="914400" y="3840480"/>
            <a:ext cx="2076374" cy="320040"/>
          </a:xfrm>
          <a:prstGeom prst="rect">
            <a:avLst/>
          </a:prstGeom>
          <a:noFill/>
          <a:ln/>
        </p:spPr>
        <p:txBody>
          <a:bodyPr wrap="square" lIns="0" tIns="0" rIns="0" bIns="0" rtlCol="0" anchor="ctr"/>
          <a:lstStyle/>
          <a:p>
            <a:pPr indent="0" marL="0">
              <a:buNone/>
            </a:pPr>
            <a:r>
              <a:rPr lang="en-US" sz="900" b="1" spc="200" kern="0" dirty="0">
                <a:solidFill>
                  <a:srgbClr val="6F8197"/>
                </a:solidFill>
                <a:latin typeface="Figtree" pitchFamily="34" charset="0"/>
                <a:ea typeface="Figtree" pitchFamily="34" charset="-122"/>
                <a:cs typeface="Figtree" pitchFamily="34" charset="-120"/>
              </a:rPr>
              <a:t>GRADES OFFERED</a:t>
            </a:r>
            <a:endParaRPr lang="en-US" sz="900" dirty="0"/>
          </a:p>
        </p:txBody>
      </p:sp>
      <p:sp>
        <p:nvSpPr>
          <p:cNvPr id="7" name="Shape 5"/>
          <p:cNvSpPr/>
          <p:nvPr/>
        </p:nvSpPr>
        <p:spPr>
          <a:xfrm>
            <a:off x="3447974" y="2788920"/>
            <a:ext cx="2533574" cy="1554480"/>
          </a:xfrm>
          <a:prstGeom prst="roundRect">
            <a:avLst>
              <a:gd name="adj" fmla="val 9412"/>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sp>
        <p:nvSpPr>
          <p:cNvPr id="8" name="Text 6"/>
          <p:cNvSpPr txBox="1"/>
          <p:nvPr/>
        </p:nvSpPr>
        <p:spPr>
          <a:xfrm>
            <a:off x="3676574" y="2971800"/>
            <a:ext cx="2076374" cy="822960"/>
          </a:xfrm>
          <a:prstGeom prst="rect">
            <a:avLst/>
          </a:prstGeom>
          <a:noFill/>
          <a:ln/>
        </p:spPr>
        <p:txBody>
          <a:bodyPr wrap="square" lIns="0" tIns="0" rIns="0" bIns="0" rtlCol="0" anchor="ctr"/>
          <a:lstStyle/>
          <a:p>
            <a:pPr indent="0" marL="0">
              <a:buNone/>
            </a:pPr>
            <a:r>
              <a:rPr lang="en-US" sz="4800" b="1" dirty="0">
                <a:solidFill>
                  <a:srgbClr val="1D365B"/>
                </a:solidFill>
                <a:latin typeface="Bricolage Grotesque" pitchFamily="34" charset="0"/>
                <a:ea typeface="Bricolage Grotesque" pitchFamily="34" charset="-122"/>
                <a:cs typeface="Bricolage Grotesque" pitchFamily="34" charset="-120"/>
              </a:rPr>
              <a:t>110</a:t>
            </a:r>
            <a:endParaRPr lang="en-US" sz="4800" dirty="0"/>
          </a:p>
        </p:txBody>
      </p:sp>
      <p:sp>
        <p:nvSpPr>
          <p:cNvPr id="9" name="Text 7"/>
          <p:cNvSpPr txBox="1"/>
          <p:nvPr/>
        </p:nvSpPr>
        <p:spPr>
          <a:xfrm>
            <a:off x="3676574" y="3840480"/>
            <a:ext cx="2076374" cy="320040"/>
          </a:xfrm>
          <a:prstGeom prst="rect">
            <a:avLst/>
          </a:prstGeom>
          <a:noFill/>
          <a:ln/>
        </p:spPr>
        <p:txBody>
          <a:bodyPr wrap="square" lIns="0" tIns="0" rIns="0" bIns="0" rtlCol="0" anchor="ctr"/>
          <a:lstStyle/>
          <a:p>
            <a:pPr indent="0" marL="0">
              <a:buNone/>
            </a:pPr>
            <a:r>
              <a:rPr lang="en-US" sz="900" b="1" spc="200" kern="0" dirty="0">
                <a:solidFill>
                  <a:srgbClr val="6F8197"/>
                </a:solidFill>
                <a:latin typeface="Figtree" pitchFamily="34" charset="0"/>
                <a:ea typeface="Figtree" pitchFamily="34" charset="-122"/>
                <a:cs typeface="Figtree" pitchFamily="34" charset="-120"/>
              </a:rPr>
              <a:t>HOURS PER FULL CREDIT</a:t>
            </a:r>
            <a:endParaRPr lang="en-US" sz="900" dirty="0"/>
          </a:p>
        </p:txBody>
      </p:sp>
      <p:sp>
        <p:nvSpPr>
          <p:cNvPr id="10" name="Shape 8"/>
          <p:cNvSpPr/>
          <p:nvPr/>
        </p:nvSpPr>
        <p:spPr>
          <a:xfrm>
            <a:off x="6210148" y="2788920"/>
            <a:ext cx="2533574" cy="1554480"/>
          </a:xfrm>
          <a:prstGeom prst="roundRect">
            <a:avLst>
              <a:gd name="adj" fmla="val 9412"/>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sp>
        <p:nvSpPr>
          <p:cNvPr id="11" name="Text 9"/>
          <p:cNvSpPr txBox="1"/>
          <p:nvPr/>
        </p:nvSpPr>
        <p:spPr>
          <a:xfrm>
            <a:off x="6438748" y="2971800"/>
            <a:ext cx="2076374" cy="822960"/>
          </a:xfrm>
          <a:prstGeom prst="rect">
            <a:avLst/>
          </a:prstGeom>
          <a:noFill/>
          <a:ln/>
        </p:spPr>
        <p:txBody>
          <a:bodyPr wrap="square" lIns="0" tIns="0" rIns="0" bIns="0" rtlCol="0" anchor="ctr"/>
          <a:lstStyle/>
          <a:p>
            <a:pPr indent="0" marL="0">
              <a:buNone/>
            </a:pPr>
            <a:r>
              <a:rPr lang="en-US" sz="4800" b="1" dirty="0">
                <a:solidFill>
                  <a:srgbClr val="1D365B"/>
                </a:solidFill>
                <a:latin typeface="Bricolage Grotesque" pitchFamily="34" charset="0"/>
                <a:ea typeface="Bricolage Grotesque" pitchFamily="34" charset="-122"/>
                <a:cs typeface="Bricolage Grotesque" pitchFamily="34" charset="-120"/>
              </a:rPr>
              <a:t>30</a:t>
            </a:r>
            <a:endParaRPr lang="en-US" sz="4800" dirty="0"/>
          </a:p>
        </p:txBody>
      </p:sp>
      <p:sp>
        <p:nvSpPr>
          <p:cNvPr id="12" name="Text 10"/>
          <p:cNvSpPr txBox="1"/>
          <p:nvPr/>
        </p:nvSpPr>
        <p:spPr>
          <a:xfrm>
            <a:off x="6438748" y="3840480"/>
            <a:ext cx="2076374" cy="320040"/>
          </a:xfrm>
          <a:prstGeom prst="rect">
            <a:avLst/>
          </a:prstGeom>
          <a:noFill/>
          <a:ln/>
        </p:spPr>
        <p:txBody>
          <a:bodyPr wrap="square" lIns="0" tIns="0" rIns="0" bIns="0" rtlCol="0" anchor="ctr"/>
          <a:lstStyle/>
          <a:p>
            <a:pPr indent="0" marL="0">
              <a:buNone/>
            </a:pPr>
            <a:r>
              <a:rPr lang="en-US" sz="900" b="1" spc="200" kern="0" dirty="0">
                <a:solidFill>
                  <a:srgbClr val="6F8197"/>
                </a:solidFill>
                <a:latin typeface="Figtree" pitchFamily="34" charset="0"/>
                <a:ea typeface="Figtree" pitchFamily="34" charset="-122"/>
                <a:cs typeface="Figtree" pitchFamily="34" charset="-120"/>
              </a:rPr>
              <a:t>CREDITS FOR THE OSSD</a:t>
            </a:r>
            <a:endParaRPr lang="en-US" sz="900" dirty="0"/>
          </a:p>
        </p:txBody>
      </p:sp>
      <p:sp>
        <p:nvSpPr>
          <p:cNvPr id="13" name="Shape 11"/>
          <p:cNvSpPr/>
          <p:nvPr/>
        </p:nvSpPr>
        <p:spPr>
          <a:xfrm>
            <a:off x="8972321" y="2788920"/>
            <a:ext cx="2533574" cy="1554480"/>
          </a:xfrm>
          <a:prstGeom prst="roundRect">
            <a:avLst>
              <a:gd name="adj" fmla="val 9412"/>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sp>
        <p:nvSpPr>
          <p:cNvPr id="14" name="Text 12"/>
          <p:cNvSpPr txBox="1"/>
          <p:nvPr/>
        </p:nvSpPr>
        <p:spPr>
          <a:xfrm>
            <a:off x="9200921" y="2971800"/>
            <a:ext cx="2076374" cy="822960"/>
          </a:xfrm>
          <a:prstGeom prst="rect">
            <a:avLst/>
          </a:prstGeom>
          <a:noFill/>
          <a:ln/>
        </p:spPr>
        <p:txBody>
          <a:bodyPr wrap="square" lIns="0" tIns="0" rIns="0" bIns="0" rtlCol="0" anchor="ctr"/>
          <a:lstStyle/>
          <a:p>
            <a:pPr indent="0" marL="0">
              <a:buNone/>
            </a:pPr>
            <a:r>
              <a:rPr lang="en-US" sz="4800" b="1" dirty="0">
                <a:solidFill>
                  <a:srgbClr val="1D365B"/>
                </a:solidFill>
                <a:latin typeface="Bricolage Grotesque" pitchFamily="34" charset="0"/>
                <a:ea typeface="Bricolage Grotesque" pitchFamily="34" charset="-122"/>
                <a:cs typeface="Bricolage Grotesque" pitchFamily="34" charset="-120"/>
              </a:rPr>
              <a:t>2</a:t>
            </a:r>
            <a:endParaRPr lang="en-US" sz="4800" dirty="0"/>
          </a:p>
        </p:txBody>
      </p:sp>
      <p:sp>
        <p:nvSpPr>
          <p:cNvPr id="15" name="Text 13"/>
          <p:cNvSpPr txBox="1"/>
          <p:nvPr/>
        </p:nvSpPr>
        <p:spPr>
          <a:xfrm>
            <a:off x="9200921" y="3840480"/>
            <a:ext cx="2076374" cy="320040"/>
          </a:xfrm>
          <a:prstGeom prst="rect">
            <a:avLst/>
          </a:prstGeom>
          <a:noFill/>
          <a:ln/>
        </p:spPr>
        <p:txBody>
          <a:bodyPr wrap="square" lIns="0" tIns="0" rIns="0" bIns="0" rtlCol="0" anchor="ctr"/>
          <a:lstStyle/>
          <a:p>
            <a:pPr indent="0" marL="0">
              <a:buNone/>
            </a:pPr>
            <a:r>
              <a:rPr lang="en-US" sz="900" b="1" spc="200" kern="0" dirty="0">
                <a:solidFill>
                  <a:srgbClr val="6F8197"/>
                </a:solidFill>
                <a:latin typeface="Figtree" pitchFamily="34" charset="0"/>
                <a:ea typeface="Figtree" pitchFamily="34" charset="-122"/>
                <a:cs typeface="Figtree" pitchFamily="34" charset="-120"/>
              </a:rPr>
              <a:t>FORMAL REPORTS PER COURSE</a:t>
            </a:r>
            <a:endParaRPr lang="en-US" sz="900" dirty="0"/>
          </a:p>
        </p:txBody>
      </p:sp>
      <p:sp>
        <p:nvSpPr>
          <p:cNvPr id="16" name="Text 14"/>
          <p:cNvSpPr txBox="1"/>
          <p:nvPr/>
        </p:nvSpPr>
        <p:spPr>
          <a:xfrm>
            <a:off x="685800" y="4617720"/>
            <a:ext cx="9875520" cy="914400"/>
          </a:xfrm>
          <a:prstGeom prst="rect">
            <a:avLst/>
          </a:prstGeom>
          <a:noFill/>
          <a:ln/>
        </p:spPr>
        <p:txBody>
          <a:bodyPr wrap="square" lIns="0" tIns="0" rIns="0" bIns="0" rtlCol="0" anchor="t"/>
          <a:lstStyle/>
          <a:p>
            <a:pPr indent="0" marL="0">
              <a:lnSpc>
                <a:spcPct val="120000"/>
              </a:lnSpc>
              <a:buNone/>
            </a:pPr>
            <a:r>
              <a:rPr lang="en-US" sz="1400" dirty="0">
                <a:solidFill>
                  <a:srgbClr val="46566D"/>
                </a:solidFill>
                <a:latin typeface="Figtree" pitchFamily="34" charset="0"/>
                <a:ea typeface="Figtree" pitchFamily="34" charset="-122"/>
                <a:cs typeface="Figtree" pitchFamily="34" charset="-120"/>
              </a:rPr>
              <a:t>Every course follows the Ontario curriculum expectations, is taught and assessed by TGA's teachers, and is recorded in the student's Ontario Student Record. The credits are the same credits any Ontario high school grants, and they transfer.</a:t>
            </a:r>
            <a:endParaRPr lang="en-US" sz="1400" dirty="0"/>
          </a:p>
        </p:txBody>
      </p:sp>
      <p:sp>
        <p:nvSpPr>
          <p:cNvPr id="17" name="Text 15"/>
          <p:cNvSpPr txBox="1"/>
          <p:nvPr/>
        </p:nvSpPr>
        <p:spPr>
          <a:xfrm>
            <a:off x="685800" y="6355080"/>
            <a:ext cx="3657600" cy="274320"/>
          </a:xfrm>
          <a:prstGeom prst="rect">
            <a:avLst/>
          </a:prstGeom>
          <a:noFill/>
          <a:ln/>
        </p:spPr>
        <p:txBody>
          <a:bodyPr wrap="square" lIns="0" tIns="0" rIns="0" bIns="0" rtlCol="0" anchor="ctr"/>
          <a:lstStyle/>
          <a:p>
            <a:pPr indent="0" marL="0">
              <a:buNone/>
            </a:pPr>
            <a:r>
              <a:rPr lang="en-US" sz="900" dirty="0">
                <a:solidFill>
                  <a:srgbClr val="6F8197"/>
                </a:solidFill>
                <a:latin typeface="Figtree" pitchFamily="34" charset="0"/>
                <a:ea typeface="Figtree" pitchFamily="34" charset="-122"/>
                <a:cs typeface="Figtree" pitchFamily="34" charset="-120"/>
              </a:rPr>
              <a:t>Toronto Global Academy</a:t>
            </a:r>
            <a:endParaRPr lang="en-US" sz="900" dirty="0"/>
          </a:p>
        </p:txBody>
      </p:sp>
      <p:sp>
        <p:nvSpPr>
          <p:cNvPr id="18" name="Text 16"/>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900" dirty="0">
                <a:solidFill>
                  <a:srgbClr val="6F8197"/>
                </a:solidFill>
                <a:latin typeface="Figtree" pitchFamily="34" charset="0"/>
                <a:ea typeface="Figtree" pitchFamily="34" charset="-122"/>
                <a:cs typeface="Figtree"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914400"/>
            <a:ext cx="7315200" cy="274320"/>
          </a:xfrm>
          <a:prstGeom prst="rect">
            <a:avLst/>
          </a:prstGeom>
          <a:noFill/>
          <a:ln/>
        </p:spPr>
        <p:txBody>
          <a:bodyPr wrap="square" lIns="0" tIns="0" rIns="0" bIns="0" rtlCol="0" anchor="ctr"/>
          <a:lstStyle/>
          <a:p>
            <a:pPr indent="0" marL="0">
              <a:buNone/>
            </a:pPr>
            <a:r>
              <a:rPr lang="en-US" sz="1000" b="1" spc="300" kern="0" dirty="0">
                <a:solidFill>
                  <a:srgbClr val="6F8197"/>
                </a:solidFill>
                <a:latin typeface="Figtree" pitchFamily="34" charset="0"/>
                <a:ea typeface="Figtree" pitchFamily="34" charset="-122"/>
                <a:cs typeface="Figtree" pitchFamily="34" charset="-120"/>
              </a:rPr>
              <a:t>WHY TORONTO GLOBAL ACADEMY</a:t>
            </a:r>
            <a:endParaRPr lang="en-US" sz="1000" dirty="0"/>
          </a:p>
        </p:txBody>
      </p:sp>
      <p:sp>
        <p:nvSpPr>
          <p:cNvPr id="3" name="Text 1"/>
          <p:cNvSpPr txBox="1"/>
          <p:nvPr/>
        </p:nvSpPr>
        <p:spPr>
          <a:xfrm>
            <a:off x="685800" y="1234440"/>
            <a:ext cx="4937760" cy="2651760"/>
          </a:xfrm>
          <a:prstGeom prst="rect">
            <a:avLst/>
          </a:prstGeom>
          <a:noFill/>
          <a:ln/>
        </p:spPr>
        <p:txBody>
          <a:bodyPr wrap="square" lIns="0" tIns="0" rIns="0" bIns="0" rtlCol="0" anchor="t"/>
          <a:lstStyle/>
          <a:p>
            <a:pPr indent="0" marL="0">
              <a:lnSpc>
                <a:spcPct val="105000"/>
              </a:lnSpc>
              <a:buNone/>
            </a:pPr>
            <a:r>
              <a:rPr lang="en-US" sz="3000" b="1" dirty="0">
                <a:solidFill>
                  <a:srgbClr val="1D365B"/>
                </a:solidFill>
                <a:latin typeface="Bricolage Grotesque" pitchFamily="34" charset="0"/>
                <a:ea typeface="Bricolage Grotesque" pitchFamily="34" charset="-122"/>
                <a:cs typeface="Bricolage Grotesque" pitchFamily="34" charset="-120"/>
              </a:rPr>
              <a:t>Inspected by the Ontario Ministry of Education. Built for students who learn outside a classroom.</a:t>
            </a:r>
            <a:endParaRPr lang="en-US" sz="3000" dirty="0"/>
          </a:p>
        </p:txBody>
      </p:sp>
      <p:sp>
        <p:nvSpPr>
          <p:cNvPr id="4" name="Shape 2"/>
          <p:cNvSpPr/>
          <p:nvPr/>
        </p:nvSpPr>
        <p:spPr>
          <a:xfrm>
            <a:off x="685800" y="4069080"/>
            <a:ext cx="1056132" cy="310896"/>
          </a:xfrm>
          <a:prstGeom prst="roundRect">
            <a:avLst>
              <a:gd name="adj" fmla="val 50000"/>
            </a:avLst>
          </a:prstGeom>
          <a:solidFill>
            <a:srgbClr val="E7EDF4"/>
          </a:solidFill>
          <a:ln w="12700">
            <a:solidFill>
              <a:srgbClr val="E7EDF4"/>
            </a:solidFill>
            <a:prstDash val="solid"/>
          </a:ln>
        </p:spPr>
      </p:sp>
      <p:sp>
        <p:nvSpPr>
          <p:cNvPr id="5" name="Text 3"/>
          <p:cNvSpPr txBox="1"/>
          <p:nvPr/>
        </p:nvSpPr>
        <p:spPr>
          <a:xfrm>
            <a:off x="685800" y="4069080"/>
            <a:ext cx="1056132" cy="310896"/>
          </a:xfrm>
          <a:prstGeom prst="rect">
            <a:avLst/>
          </a:prstGeom>
          <a:noFill/>
          <a:ln/>
        </p:spPr>
        <p:txBody>
          <a:bodyPr wrap="square" lIns="0" tIns="0" rIns="0" bIns="0" rtlCol="0" anchor="ctr"/>
          <a:lstStyle/>
          <a:p>
            <a:pPr algn="ctr" indent="0" marL="0">
              <a:buNone/>
            </a:pPr>
            <a:r>
              <a:rPr lang="en-US" sz="1000" b="1" dirty="0">
                <a:solidFill>
                  <a:srgbClr val="1D365B"/>
                </a:solidFill>
                <a:latin typeface="Figtree" pitchFamily="34" charset="0"/>
                <a:ea typeface="Figtree" pitchFamily="34" charset="-122"/>
                <a:cs typeface="Figtree" pitchFamily="34" charset="-120"/>
              </a:rPr>
              <a:t>BSID 884434</a:t>
            </a:r>
            <a:endParaRPr lang="en-US" sz="1000" dirty="0"/>
          </a:p>
        </p:txBody>
      </p:sp>
      <p:sp>
        <p:nvSpPr>
          <p:cNvPr id="6" name="Shape 4"/>
          <p:cNvSpPr/>
          <p:nvPr/>
        </p:nvSpPr>
        <p:spPr>
          <a:xfrm>
            <a:off x="1851660" y="4069080"/>
            <a:ext cx="1911096" cy="310896"/>
          </a:xfrm>
          <a:prstGeom prst="roundRect">
            <a:avLst>
              <a:gd name="adj" fmla="val 50000"/>
            </a:avLst>
          </a:prstGeom>
          <a:solidFill>
            <a:srgbClr val="E7EDF4"/>
          </a:solidFill>
          <a:ln w="12700">
            <a:solidFill>
              <a:srgbClr val="E7EDF4"/>
            </a:solidFill>
            <a:prstDash val="solid"/>
          </a:ln>
        </p:spPr>
      </p:sp>
      <p:sp>
        <p:nvSpPr>
          <p:cNvPr id="7" name="Text 5"/>
          <p:cNvSpPr txBox="1"/>
          <p:nvPr/>
        </p:nvSpPr>
        <p:spPr>
          <a:xfrm>
            <a:off x="1851660" y="4069080"/>
            <a:ext cx="1911096" cy="310896"/>
          </a:xfrm>
          <a:prstGeom prst="rect">
            <a:avLst/>
          </a:prstGeom>
          <a:noFill/>
          <a:ln/>
        </p:spPr>
        <p:txBody>
          <a:bodyPr wrap="square" lIns="0" tIns="0" rIns="0" bIns="0" rtlCol="0" anchor="ctr"/>
          <a:lstStyle/>
          <a:p>
            <a:pPr algn="ctr" indent="0" marL="0">
              <a:buNone/>
            </a:pPr>
            <a:r>
              <a:rPr lang="en-US" sz="1000" b="1" dirty="0">
                <a:solidFill>
                  <a:srgbClr val="1D365B"/>
                </a:solidFill>
                <a:latin typeface="Figtree" pitchFamily="34" charset="0"/>
                <a:ea typeface="Figtree" pitchFamily="34" charset="-122"/>
                <a:cs typeface="Figtree" pitchFamily="34" charset="-120"/>
              </a:rPr>
              <a:t>Ontario private school</a:t>
            </a:r>
            <a:endParaRPr lang="en-US" sz="1000" dirty="0"/>
          </a:p>
        </p:txBody>
      </p:sp>
      <p:sp>
        <p:nvSpPr>
          <p:cNvPr id="8" name="Shape 6"/>
          <p:cNvSpPr/>
          <p:nvPr/>
        </p:nvSpPr>
        <p:spPr>
          <a:xfrm>
            <a:off x="685800" y="4480560"/>
            <a:ext cx="2066544" cy="310896"/>
          </a:xfrm>
          <a:prstGeom prst="roundRect">
            <a:avLst>
              <a:gd name="adj" fmla="val 50000"/>
            </a:avLst>
          </a:prstGeom>
          <a:solidFill>
            <a:srgbClr val="E7EDF4"/>
          </a:solidFill>
          <a:ln w="12700">
            <a:solidFill>
              <a:srgbClr val="E7EDF4"/>
            </a:solidFill>
            <a:prstDash val="solid"/>
          </a:ln>
        </p:spPr>
      </p:sp>
      <p:sp>
        <p:nvSpPr>
          <p:cNvPr id="9" name="Text 7"/>
          <p:cNvSpPr txBox="1"/>
          <p:nvPr/>
        </p:nvSpPr>
        <p:spPr>
          <a:xfrm>
            <a:off x="685800" y="4480560"/>
            <a:ext cx="2066544" cy="310896"/>
          </a:xfrm>
          <a:prstGeom prst="rect">
            <a:avLst/>
          </a:prstGeom>
          <a:noFill/>
          <a:ln/>
        </p:spPr>
        <p:txBody>
          <a:bodyPr wrap="square" lIns="0" tIns="0" rIns="0" bIns="0" rtlCol="0" anchor="ctr"/>
          <a:lstStyle/>
          <a:p>
            <a:pPr algn="ctr" indent="0" marL="0">
              <a:buNone/>
            </a:pPr>
            <a:r>
              <a:rPr lang="en-US" sz="1000" b="1" dirty="0">
                <a:solidFill>
                  <a:srgbClr val="1D365B"/>
                </a:solidFill>
                <a:latin typeface="Figtree" pitchFamily="34" charset="0"/>
                <a:ea typeface="Figtree" pitchFamily="34" charset="-122"/>
                <a:cs typeface="Figtree" pitchFamily="34" charset="-120"/>
              </a:rPr>
              <a:t>Secondary credit courses</a:t>
            </a:r>
            <a:endParaRPr lang="en-US" sz="1000" dirty="0"/>
          </a:p>
        </p:txBody>
      </p:sp>
      <p:sp>
        <p:nvSpPr>
          <p:cNvPr id="10" name="Shape 8"/>
          <p:cNvSpPr/>
          <p:nvPr/>
        </p:nvSpPr>
        <p:spPr>
          <a:xfrm>
            <a:off x="2862072" y="4480560"/>
            <a:ext cx="1755648" cy="310896"/>
          </a:xfrm>
          <a:prstGeom prst="roundRect">
            <a:avLst>
              <a:gd name="adj" fmla="val 50000"/>
            </a:avLst>
          </a:prstGeom>
          <a:solidFill>
            <a:srgbClr val="E7EDF4"/>
          </a:solidFill>
          <a:ln w="12700">
            <a:solidFill>
              <a:srgbClr val="E7EDF4"/>
            </a:solidFill>
            <a:prstDash val="solid"/>
          </a:ln>
        </p:spPr>
      </p:sp>
      <p:sp>
        <p:nvSpPr>
          <p:cNvPr id="11" name="Text 9"/>
          <p:cNvSpPr txBox="1"/>
          <p:nvPr/>
        </p:nvSpPr>
        <p:spPr>
          <a:xfrm>
            <a:off x="2862072" y="4480560"/>
            <a:ext cx="1755648" cy="310896"/>
          </a:xfrm>
          <a:prstGeom prst="rect">
            <a:avLst/>
          </a:prstGeom>
          <a:noFill/>
          <a:ln/>
        </p:spPr>
        <p:txBody>
          <a:bodyPr wrap="square" lIns="0" tIns="0" rIns="0" bIns="0" rtlCol="0" anchor="ctr"/>
          <a:lstStyle/>
          <a:p>
            <a:pPr algn="ctr" indent="0" marL="0">
              <a:buNone/>
            </a:pPr>
            <a:r>
              <a:rPr lang="en-US" sz="1000" b="1" dirty="0">
                <a:solidFill>
                  <a:srgbClr val="1D365B"/>
                </a:solidFill>
                <a:latin typeface="Figtree" pitchFamily="34" charset="0"/>
                <a:ea typeface="Figtree" pitchFamily="34" charset="-122"/>
                <a:cs typeface="Figtree" pitchFamily="34" charset="-120"/>
              </a:rPr>
              <a:t>Mississauga, Ontario</a:t>
            </a:r>
            <a:endParaRPr lang="en-US" sz="1000" dirty="0"/>
          </a:p>
        </p:txBody>
      </p:sp>
      <p:pic>
        <p:nvPicPr>
          <p:cNvPr id="12" name="Image 0" descr="/root/deck/icons/shield_light.png">    </p:cNvPr>
          <p:cNvPicPr>
            <a:picLocks noChangeAspect="1"/>
          </p:cNvPicPr>
          <p:nvPr/>
        </p:nvPicPr>
        <p:blipFill>
          <a:blip r:embed="rId1"/>
          <a:stretch>
            <a:fillRect/>
          </a:stretch>
        </p:blipFill>
        <p:spPr>
          <a:xfrm>
            <a:off x="6309360" y="914400"/>
            <a:ext cx="502920" cy="502920"/>
          </a:xfrm>
          <a:prstGeom prst="rect">
            <a:avLst/>
          </a:prstGeom>
        </p:spPr>
      </p:pic>
      <p:sp>
        <p:nvSpPr>
          <p:cNvPr id="13" name="Text 10"/>
          <p:cNvSpPr txBox="1"/>
          <p:nvPr/>
        </p:nvSpPr>
        <p:spPr>
          <a:xfrm>
            <a:off x="6995160" y="896112"/>
            <a:ext cx="4510735" cy="329184"/>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Curriculum integrity</a:t>
            </a:r>
            <a:endParaRPr lang="en-US" sz="1600" dirty="0"/>
          </a:p>
        </p:txBody>
      </p:sp>
      <p:sp>
        <p:nvSpPr>
          <p:cNvPr id="14" name="Text 11"/>
          <p:cNvSpPr txBox="1"/>
          <p:nvPr/>
        </p:nvSpPr>
        <p:spPr>
          <a:xfrm>
            <a:off x="6995160" y="1225296"/>
            <a:ext cx="4510735" cy="54864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Courses are mapped to the Ontario expectations and inspected for compliance.</a:t>
            </a:r>
            <a:endParaRPr lang="en-US" sz="1250" dirty="0"/>
          </a:p>
        </p:txBody>
      </p:sp>
      <p:pic>
        <p:nvPicPr>
          <p:cNvPr id="15" name="Image 1" descr="/root/deck/icons/person_light.png">    </p:cNvPr>
          <p:cNvPicPr>
            <a:picLocks noChangeAspect="1"/>
          </p:cNvPicPr>
          <p:nvPr/>
        </p:nvPicPr>
        <p:blipFill>
          <a:blip r:embed="rId2"/>
          <a:stretch>
            <a:fillRect/>
          </a:stretch>
        </p:blipFill>
        <p:spPr>
          <a:xfrm>
            <a:off x="6309360" y="2011680"/>
            <a:ext cx="502920" cy="502920"/>
          </a:xfrm>
          <a:prstGeom prst="rect">
            <a:avLst/>
          </a:prstGeom>
        </p:spPr>
      </p:pic>
      <p:sp>
        <p:nvSpPr>
          <p:cNvPr id="16" name="Text 12"/>
          <p:cNvSpPr txBox="1"/>
          <p:nvPr/>
        </p:nvSpPr>
        <p:spPr>
          <a:xfrm>
            <a:off x="6995160" y="1993392"/>
            <a:ext cx="4510735" cy="329184"/>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Teacher supported, not self serve</a:t>
            </a:r>
            <a:endParaRPr lang="en-US" sz="1600" dirty="0"/>
          </a:p>
        </p:txBody>
      </p:sp>
      <p:sp>
        <p:nvSpPr>
          <p:cNvPr id="17" name="Text 13"/>
          <p:cNvSpPr txBox="1"/>
          <p:nvPr/>
        </p:nvSpPr>
        <p:spPr>
          <a:xfrm>
            <a:off x="6995160" y="2322576"/>
            <a:ext cx="4510735" cy="54864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Teachers maintain the course space, monitor progress, give feedback and run the evaluations.</a:t>
            </a:r>
            <a:endParaRPr lang="en-US" sz="1250" dirty="0"/>
          </a:p>
        </p:txBody>
      </p:sp>
      <p:pic>
        <p:nvPicPr>
          <p:cNvPr id="18" name="Image 2" descr="/root/deck/icons/lock_light.png">    </p:cNvPr>
          <p:cNvPicPr>
            <a:picLocks noChangeAspect="1"/>
          </p:cNvPicPr>
          <p:nvPr/>
        </p:nvPicPr>
        <p:blipFill>
          <a:blip r:embed="rId3"/>
          <a:stretch>
            <a:fillRect/>
          </a:stretch>
        </p:blipFill>
        <p:spPr>
          <a:xfrm>
            <a:off x="6309360" y="3108960"/>
            <a:ext cx="502920" cy="502920"/>
          </a:xfrm>
          <a:prstGeom prst="rect">
            <a:avLst/>
          </a:prstGeom>
        </p:spPr>
      </p:pic>
      <p:sp>
        <p:nvSpPr>
          <p:cNvPr id="19" name="Text 14"/>
          <p:cNvSpPr txBox="1"/>
          <p:nvPr/>
        </p:nvSpPr>
        <p:spPr>
          <a:xfrm>
            <a:off x="6995160" y="3090672"/>
            <a:ext cx="4510735" cy="329184"/>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Secure and verified</a:t>
            </a:r>
            <a:endParaRPr lang="en-US" sz="1600" dirty="0"/>
          </a:p>
        </p:txBody>
      </p:sp>
      <p:sp>
        <p:nvSpPr>
          <p:cNvPr id="20" name="Text 15"/>
          <p:cNvSpPr txBox="1"/>
          <p:nvPr/>
        </p:nvSpPr>
        <p:spPr>
          <a:xfrm>
            <a:off x="6995160" y="3419856"/>
            <a:ext cx="4510735" cy="54864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A secure learning platform, identity verified assessments and records kept for inspection.</a:t>
            </a:r>
            <a:endParaRPr lang="en-US" sz="1250" dirty="0"/>
          </a:p>
        </p:txBody>
      </p:sp>
      <p:pic>
        <p:nvPicPr>
          <p:cNvPr id="21" name="Image 3" descr="/root/deck/icons/globe_light.png">    </p:cNvPr>
          <p:cNvPicPr>
            <a:picLocks noChangeAspect="1"/>
          </p:cNvPicPr>
          <p:nvPr/>
        </p:nvPicPr>
        <p:blipFill>
          <a:blip r:embed="rId4"/>
          <a:stretch>
            <a:fillRect/>
          </a:stretch>
        </p:blipFill>
        <p:spPr>
          <a:xfrm>
            <a:off x="6309360" y="4206240"/>
            <a:ext cx="502920" cy="502920"/>
          </a:xfrm>
          <a:prstGeom prst="rect">
            <a:avLst/>
          </a:prstGeom>
        </p:spPr>
      </p:pic>
      <p:sp>
        <p:nvSpPr>
          <p:cNvPr id="22" name="Text 16"/>
          <p:cNvSpPr txBox="1"/>
          <p:nvPr/>
        </p:nvSpPr>
        <p:spPr>
          <a:xfrm>
            <a:off x="6995160" y="4187952"/>
            <a:ext cx="4510735" cy="329184"/>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Flexibility with accountability</a:t>
            </a:r>
            <a:endParaRPr lang="en-US" sz="1600" dirty="0"/>
          </a:p>
        </p:txBody>
      </p:sp>
      <p:sp>
        <p:nvSpPr>
          <p:cNvPr id="23" name="Text 17"/>
          <p:cNvSpPr txBox="1"/>
          <p:nvPr/>
        </p:nvSpPr>
        <p:spPr>
          <a:xfrm>
            <a:off x="6995160" y="4517136"/>
            <a:ext cx="4510735" cy="54864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Individual plans and continuous intake, with attendance, workload and reporting expectations that hold.</a:t>
            </a:r>
            <a:endParaRPr lang="en-US" sz="1250" dirty="0"/>
          </a:p>
        </p:txBody>
      </p:sp>
      <p:sp>
        <p:nvSpPr>
          <p:cNvPr id="24" name="Text 18"/>
          <p:cNvSpPr txBox="1"/>
          <p:nvPr/>
        </p:nvSpPr>
        <p:spPr>
          <a:xfrm>
            <a:off x="685800" y="6355080"/>
            <a:ext cx="3657600" cy="274320"/>
          </a:xfrm>
          <a:prstGeom prst="rect">
            <a:avLst/>
          </a:prstGeom>
          <a:noFill/>
          <a:ln/>
        </p:spPr>
        <p:txBody>
          <a:bodyPr wrap="square" lIns="0" tIns="0" rIns="0" bIns="0" rtlCol="0" anchor="ctr"/>
          <a:lstStyle/>
          <a:p>
            <a:pPr indent="0" marL="0">
              <a:buNone/>
            </a:pPr>
            <a:r>
              <a:rPr lang="en-US" sz="900" dirty="0">
                <a:solidFill>
                  <a:srgbClr val="6F8197"/>
                </a:solidFill>
                <a:latin typeface="Figtree" pitchFamily="34" charset="0"/>
                <a:ea typeface="Figtree" pitchFamily="34" charset="-122"/>
                <a:cs typeface="Figtree" pitchFamily="34" charset="-120"/>
              </a:rPr>
              <a:t>Toronto Global Academy</a:t>
            </a:r>
            <a:endParaRPr lang="en-US" sz="900" dirty="0"/>
          </a:p>
        </p:txBody>
      </p:sp>
      <p:sp>
        <p:nvSpPr>
          <p:cNvPr id="25" name="Text 19"/>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900" dirty="0">
                <a:solidFill>
                  <a:srgbClr val="6F8197"/>
                </a:solidFill>
                <a:latin typeface="Figtree" pitchFamily="34" charset="0"/>
                <a:ea typeface="Figtree" pitchFamily="34" charset="-122"/>
                <a:cs typeface="Figtree"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005840"/>
            <a:ext cx="7315200" cy="274320"/>
          </a:xfrm>
          <a:prstGeom prst="rect">
            <a:avLst/>
          </a:prstGeom>
          <a:noFill/>
          <a:ln/>
        </p:spPr>
        <p:txBody>
          <a:bodyPr wrap="square" lIns="0" tIns="0" rIns="0" bIns="0" rtlCol="0" anchor="ctr"/>
          <a:lstStyle/>
          <a:p>
            <a:pPr indent="0" marL="0">
              <a:buNone/>
            </a:pPr>
            <a:r>
              <a:rPr lang="en-US" sz="1000" b="1" spc="300" kern="0" dirty="0">
                <a:solidFill>
                  <a:srgbClr val="6F8197"/>
                </a:solidFill>
                <a:latin typeface="Figtree" pitchFamily="34" charset="0"/>
                <a:ea typeface="Figtree" pitchFamily="34" charset="-122"/>
                <a:cs typeface="Figtree" pitchFamily="34" charset="-120"/>
              </a:rPr>
              <a:t>WHO THIS SERVES</a:t>
            </a:r>
            <a:endParaRPr lang="en-US" sz="1000" dirty="0"/>
          </a:p>
        </p:txBody>
      </p:sp>
      <p:sp>
        <p:nvSpPr>
          <p:cNvPr id="3" name="Text 1"/>
          <p:cNvSpPr txBox="1"/>
          <p:nvPr/>
        </p:nvSpPr>
        <p:spPr>
          <a:xfrm>
            <a:off x="685800" y="1325880"/>
            <a:ext cx="9601200" cy="822960"/>
          </a:xfrm>
          <a:prstGeom prst="rect">
            <a:avLst/>
          </a:prstGeom>
          <a:noFill/>
          <a:ln/>
        </p:spPr>
        <p:txBody>
          <a:bodyPr wrap="square" lIns="0" tIns="0" rIns="0" bIns="0" rtlCol="0" anchor="t"/>
          <a:lstStyle/>
          <a:p>
            <a:pPr indent="0" marL="0">
              <a:lnSpc>
                <a:spcPct val="105000"/>
              </a:lnSpc>
              <a:buNone/>
            </a:pPr>
            <a:r>
              <a:rPr lang="en-US" sz="3400" b="1" dirty="0">
                <a:solidFill>
                  <a:srgbClr val="1D365B"/>
                </a:solidFill>
                <a:latin typeface="Bricolage Grotesque" pitchFamily="34" charset="0"/>
                <a:ea typeface="Bricolage Grotesque" pitchFamily="34" charset="-122"/>
                <a:cs typeface="Bricolage Grotesque" pitchFamily="34" charset="-120"/>
              </a:rPr>
              <a:t>Four groups already in your community.</a:t>
            </a:r>
            <a:endParaRPr lang="en-US" sz="3400" dirty="0"/>
          </a:p>
        </p:txBody>
      </p:sp>
      <p:sp>
        <p:nvSpPr>
          <p:cNvPr id="4" name="Shape 2"/>
          <p:cNvSpPr/>
          <p:nvPr/>
        </p:nvSpPr>
        <p:spPr>
          <a:xfrm>
            <a:off x="685800" y="2468880"/>
            <a:ext cx="2533574" cy="2834640"/>
          </a:xfrm>
          <a:prstGeom prst="roundRect">
            <a:avLst>
              <a:gd name="adj" fmla="val 5775"/>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pic>
        <p:nvPicPr>
          <p:cNvPr id="5" name="Image 0" descr="/root/deck/icons/book_navy.png">    </p:cNvPr>
          <p:cNvPicPr>
            <a:picLocks noChangeAspect="1"/>
          </p:cNvPicPr>
          <p:nvPr/>
        </p:nvPicPr>
        <p:blipFill>
          <a:blip r:embed="rId1"/>
          <a:stretch>
            <a:fillRect/>
          </a:stretch>
        </p:blipFill>
        <p:spPr>
          <a:xfrm>
            <a:off x="941832" y="2724912"/>
            <a:ext cx="502920" cy="502920"/>
          </a:xfrm>
          <a:prstGeom prst="rect">
            <a:avLst/>
          </a:prstGeom>
        </p:spPr>
      </p:pic>
      <p:sp>
        <p:nvSpPr>
          <p:cNvPr id="6" name="Text 3"/>
          <p:cNvSpPr txBox="1"/>
          <p:nvPr/>
        </p:nvSpPr>
        <p:spPr>
          <a:xfrm>
            <a:off x="941832" y="3364992"/>
            <a:ext cx="2021510"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Hifdh students</a:t>
            </a:r>
            <a:endParaRPr lang="en-US" sz="1600" dirty="0"/>
          </a:p>
        </p:txBody>
      </p:sp>
      <p:sp>
        <p:nvSpPr>
          <p:cNvPr id="7" name="Text 4"/>
          <p:cNvSpPr txBox="1"/>
          <p:nvPr/>
        </p:nvSpPr>
        <p:spPr>
          <a:xfrm>
            <a:off x="941832" y="3931920"/>
            <a:ext cx="2021510" cy="114300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Keep academics moving through the memorization years so nothing has to be repeated later.</a:t>
            </a:r>
            <a:endParaRPr lang="en-US" sz="1250" dirty="0"/>
          </a:p>
        </p:txBody>
      </p:sp>
      <p:sp>
        <p:nvSpPr>
          <p:cNvPr id="8" name="Shape 5"/>
          <p:cNvSpPr/>
          <p:nvPr/>
        </p:nvSpPr>
        <p:spPr>
          <a:xfrm>
            <a:off x="3447974" y="2468880"/>
            <a:ext cx="2533574" cy="2834640"/>
          </a:xfrm>
          <a:prstGeom prst="roundRect">
            <a:avLst>
              <a:gd name="adj" fmla="val 5775"/>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pic>
        <p:nvPicPr>
          <p:cNvPr id="9" name="Image 1" descr="/root/deck/icons/building_navy.png">    </p:cNvPr>
          <p:cNvPicPr>
            <a:picLocks noChangeAspect="1"/>
          </p:cNvPicPr>
          <p:nvPr/>
        </p:nvPicPr>
        <p:blipFill>
          <a:blip r:embed="rId2"/>
          <a:stretch>
            <a:fillRect/>
          </a:stretch>
        </p:blipFill>
        <p:spPr>
          <a:xfrm>
            <a:off x="3704006" y="2724912"/>
            <a:ext cx="502920" cy="502920"/>
          </a:xfrm>
          <a:prstGeom prst="rect">
            <a:avLst/>
          </a:prstGeom>
        </p:spPr>
      </p:pic>
      <p:sp>
        <p:nvSpPr>
          <p:cNvPr id="10" name="Text 6"/>
          <p:cNvSpPr txBox="1"/>
          <p:nvPr/>
        </p:nvSpPr>
        <p:spPr>
          <a:xfrm>
            <a:off x="3704006" y="3364992"/>
            <a:ext cx="2021510"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Full time madrasah students</a:t>
            </a:r>
            <a:endParaRPr lang="en-US" sz="1600" dirty="0"/>
          </a:p>
        </p:txBody>
      </p:sp>
      <p:sp>
        <p:nvSpPr>
          <p:cNvPr id="11" name="Text 7"/>
          <p:cNvSpPr txBox="1"/>
          <p:nvPr/>
        </p:nvSpPr>
        <p:spPr>
          <a:xfrm>
            <a:off x="3704006" y="3931920"/>
            <a:ext cx="2021510" cy="114300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Grades 9 to 12 students who spend the day with you and need their high school credits.</a:t>
            </a:r>
            <a:endParaRPr lang="en-US" sz="1250" dirty="0"/>
          </a:p>
        </p:txBody>
      </p:sp>
      <p:sp>
        <p:nvSpPr>
          <p:cNvPr id="12" name="Shape 8"/>
          <p:cNvSpPr/>
          <p:nvPr/>
        </p:nvSpPr>
        <p:spPr>
          <a:xfrm>
            <a:off x="6210148" y="2468880"/>
            <a:ext cx="2533574" cy="2834640"/>
          </a:xfrm>
          <a:prstGeom prst="roundRect">
            <a:avLst>
              <a:gd name="adj" fmla="val 5775"/>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pic>
        <p:nvPicPr>
          <p:cNvPr id="13" name="Image 2" descr="/root/deck/icons/home_navy.png">    </p:cNvPr>
          <p:cNvPicPr>
            <a:picLocks noChangeAspect="1"/>
          </p:cNvPicPr>
          <p:nvPr/>
        </p:nvPicPr>
        <p:blipFill>
          <a:blip r:embed="rId3"/>
          <a:stretch>
            <a:fillRect/>
          </a:stretch>
        </p:blipFill>
        <p:spPr>
          <a:xfrm>
            <a:off x="6466180" y="2724912"/>
            <a:ext cx="502920" cy="502920"/>
          </a:xfrm>
          <a:prstGeom prst="rect">
            <a:avLst/>
          </a:prstGeom>
        </p:spPr>
      </p:pic>
      <p:sp>
        <p:nvSpPr>
          <p:cNvPr id="14" name="Text 9"/>
          <p:cNvSpPr txBox="1"/>
          <p:nvPr/>
        </p:nvSpPr>
        <p:spPr>
          <a:xfrm>
            <a:off x="6466180" y="3364992"/>
            <a:ext cx="2021510"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Homeschooling families</a:t>
            </a:r>
            <a:endParaRPr lang="en-US" sz="1600" dirty="0"/>
          </a:p>
        </p:txBody>
      </p:sp>
      <p:sp>
        <p:nvSpPr>
          <p:cNvPr id="15" name="Text 10"/>
          <p:cNvSpPr txBox="1"/>
          <p:nvPr/>
        </p:nvSpPr>
        <p:spPr>
          <a:xfrm>
            <a:off x="6466180" y="3931920"/>
            <a:ext cx="2021510" cy="114300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Parents in your congregation who want certified teaching and reporting behind what they do at home.</a:t>
            </a:r>
            <a:endParaRPr lang="en-US" sz="1250" dirty="0"/>
          </a:p>
        </p:txBody>
      </p:sp>
      <p:sp>
        <p:nvSpPr>
          <p:cNvPr id="16" name="Shape 11"/>
          <p:cNvSpPr/>
          <p:nvPr/>
        </p:nvSpPr>
        <p:spPr>
          <a:xfrm>
            <a:off x="8972321" y="2468880"/>
            <a:ext cx="2533574" cy="2834640"/>
          </a:xfrm>
          <a:prstGeom prst="roundRect">
            <a:avLst>
              <a:gd name="adj" fmla="val 5775"/>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pic>
        <p:nvPicPr>
          <p:cNvPr id="17" name="Image 3" descr="/root/deck/icons/pulse_navy.png">    </p:cNvPr>
          <p:cNvPicPr>
            <a:picLocks noChangeAspect="1"/>
          </p:cNvPicPr>
          <p:nvPr/>
        </p:nvPicPr>
        <p:blipFill>
          <a:blip r:embed="rId4"/>
          <a:stretch>
            <a:fillRect/>
          </a:stretch>
        </p:blipFill>
        <p:spPr>
          <a:xfrm>
            <a:off x="9228353" y="2724912"/>
            <a:ext cx="502920" cy="502920"/>
          </a:xfrm>
          <a:prstGeom prst="rect">
            <a:avLst/>
          </a:prstGeom>
        </p:spPr>
      </p:pic>
      <p:sp>
        <p:nvSpPr>
          <p:cNvPr id="18" name="Text 12"/>
          <p:cNvSpPr txBox="1"/>
          <p:nvPr/>
        </p:nvSpPr>
        <p:spPr>
          <a:xfrm>
            <a:off x="9228353" y="3364992"/>
            <a:ext cx="2021510"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Students finding their way back</a:t>
            </a:r>
            <a:endParaRPr lang="en-US" sz="1600" dirty="0"/>
          </a:p>
        </p:txBody>
      </p:sp>
      <p:sp>
        <p:nvSpPr>
          <p:cNvPr id="19" name="Text 13"/>
          <p:cNvSpPr txBox="1"/>
          <p:nvPr/>
        </p:nvSpPr>
        <p:spPr>
          <a:xfrm>
            <a:off x="9228353" y="3931920"/>
            <a:ext cx="2021510" cy="114300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Young people who left school and need a structured, supported path to the diploma.</a:t>
            </a:r>
            <a:endParaRPr lang="en-US" sz="1250" dirty="0"/>
          </a:p>
        </p:txBody>
      </p:sp>
      <p:sp>
        <p:nvSpPr>
          <p:cNvPr id="20" name="Text 14"/>
          <p:cNvSpPr txBox="1"/>
          <p:nvPr/>
        </p:nvSpPr>
        <p:spPr>
          <a:xfrm>
            <a:off x="685800" y="6355080"/>
            <a:ext cx="3657600" cy="274320"/>
          </a:xfrm>
          <a:prstGeom prst="rect">
            <a:avLst/>
          </a:prstGeom>
          <a:noFill/>
          <a:ln/>
        </p:spPr>
        <p:txBody>
          <a:bodyPr wrap="square" lIns="0" tIns="0" rIns="0" bIns="0" rtlCol="0" anchor="ctr"/>
          <a:lstStyle/>
          <a:p>
            <a:pPr indent="0" marL="0">
              <a:buNone/>
            </a:pPr>
            <a:r>
              <a:rPr lang="en-US" sz="900" dirty="0">
                <a:solidFill>
                  <a:srgbClr val="6F8197"/>
                </a:solidFill>
                <a:latin typeface="Figtree" pitchFamily="34" charset="0"/>
                <a:ea typeface="Figtree" pitchFamily="34" charset="-122"/>
                <a:cs typeface="Figtree" pitchFamily="34" charset="-120"/>
              </a:rPr>
              <a:t>Toronto Global Academy</a:t>
            </a:r>
            <a:endParaRPr lang="en-US" sz="900" dirty="0"/>
          </a:p>
        </p:txBody>
      </p:sp>
      <p:sp>
        <p:nvSpPr>
          <p:cNvPr id="21" name="Text 15"/>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900" dirty="0">
                <a:solidFill>
                  <a:srgbClr val="6F8197"/>
                </a:solidFill>
                <a:latin typeface="Figtree" pitchFamily="34" charset="0"/>
                <a:ea typeface="Figtree" pitchFamily="34" charset="-122"/>
                <a:cs typeface="Figtree"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7EDF4"/>
        </a:solidFill>
      </p:bgPr>
    </p:bg>
    <p:spTree>
      <p:nvGrpSpPr>
        <p:cNvPr id="1" name=""/>
        <p:cNvGrpSpPr/>
        <p:nvPr/>
      </p:nvGrpSpPr>
      <p:grpSpPr>
        <a:xfrm>
          <a:off x="0" y="0"/>
          <a:ext cx="0" cy="0"/>
          <a:chOff x="0" y="0"/>
          <a:chExt cx="0" cy="0"/>
        </a:xfrm>
      </p:grpSpPr>
      <p:sp>
        <p:nvSpPr>
          <p:cNvPr id="2" name="Text 0"/>
          <p:cNvSpPr txBox="1"/>
          <p:nvPr/>
        </p:nvSpPr>
        <p:spPr>
          <a:xfrm>
            <a:off x="685800" y="1005840"/>
            <a:ext cx="7315200" cy="274320"/>
          </a:xfrm>
          <a:prstGeom prst="rect">
            <a:avLst/>
          </a:prstGeom>
          <a:noFill/>
          <a:ln/>
        </p:spPr>
        <p:txBody>
          <a:bodyPr wrap="square" lIns="0" tIns="0" rIns="0" bIns="0" rtlCol="0" anchor="ctr"/>
          <a:lstStyle/>
          <a:p>
            <a:pPr indent="0" marL="0">
              <a:buNone/>
            </a:pPr>
            <a:r>
              <a:rPr lang="en-US" sz="1000" b="1" spc="300" kern="0" dirty="0">
                <a:solidFill>
                  <a:srgbClr val="6F8197"/>
                </a:solidFill>
                <a:latin typeface="Figtree" pitchFamily="34" charset="0"/>
                <a:ea typeface="Figtree" pitchFamily="34" charset="-122"/>
                <a:cs typeface="Figtree" pitchFamily="34" charset="-120"/>
              </a:rPr>
              <a:t>FLEXIBLE PRICING FOR GROUPS</a:t>
            </a:r>
            <a:endParaRPr lang="en-US" sz="1000" dirty="0"/>
          </a:p>
        </p:txBody>
      </p:sp>
      <p:sp>
        <p:nvSpPr>
          <p:cNvPr id="3" name="Text 1"/>
          <p:cNvSpPr txBox="1"/>
          <p:nvPr/>
        </p:nvSpPr>
        <p:spPr>
          <a:xfrm>
            <a:off x="685800" y="1325880"/>
            <a:ext cx="4754880" cy="1737360"/>
          </a:xfrm>
          <a:prstGeom prst="rect">
            <a:avLst/>
          </a:prstGeom>
          <a:noFill/>
          <a:ln/>
        </p:spPr>
        <p:txBody>
          <a:bodyPr wrap="square" lIns="0" tIns="0" rIns="0" bIns="0" rtlCol="0" anchor="t"/>
          <a:lstStyle/>
          <a:p>
            <a:pPr indent="0" marL="0">
              <a:lnSpc>
                <a:spcPct val="105000"/>
              </a:lnSpc>
              <a:buNone/>
            </a:pPr>
            <a:r>
              <a:rPr lang="en-US" sz="3000" b="1" dirty="0">
                <a:solidFill>
                  <a:srgbClr val="1D365B"/>
                </a:solidFill>
                <a:latin typeface="Bricolage Grotesque" pitchFamily="34" charset="0"/>
                <a:ea typeface="Bricolage Grotesque" pitchFamily="34" charset="-122"/>
                <a:cs typeface="Bricolage Grotesque" pitchFamily="34" charset="-120"/>
              </a:rPr>
              <a:t>The more students you enrol, the less each one costs.</a:t>
            </a:r>
            <a:endParaRPr lang="en-US" sz="3000" dirty="0"/>
          </a:p>
        </p:txBody>
      </p:sp>
      <p:sp>
        <p:nvSpPr>
          <p:cNvPr id="4" name="Text 2"/>
          <p:cNvSpPr txBox="1"/>
          <p:nvPr/>
        </p:nvSpPr>
        <p:spPr>
          <a:xfrm>
            <a:off x="685800" y="3200400"/>
            <a:ext cx="4572000" cy="914400"/>
          </a:xfrm>
          <a:prstGeom prst="rect">
            <a:avLst/>
          </a:prstGeom>
          <a:noFill/>
          <a:ln/>
        </p:spPr>
        <p:txBody>
          <a:bodyPr wrap="square" lIns="0" tIns="0" rIns="0" bIns="0" rtlCol="0" anchor="t"/>
          <a:lstStyle/>
          <a:p>
            <a:pPr indent="0" marL="0">
              <a:lnSpc>
                <a:spcPct val="120000"/>
              </a:lnSpc>
              <a:buNone/>
            </a:pPr>
            <a:r>
              <a:rPr lang="en-US" sz="1400" dirty="0">
                <a:solidFill>
                  <a:srgbClr val="46566D"/>
                </a:solidFill>
                <a:latin typeface="Figtree" pitchFamily="34" charset="0"/>
                <a:ea typeface="Figtree" pitchFamily="34" charset="-122"/>
                <a:cs typeface="Figtree" pitchFamily="34" charset="-120"/>
              </a:rPr>
              <a:t>Pricing is per student, one time. Your whole institution is priced at its tier, so a growing madrasah moves down the table as it grows.</a:t>
            </a:r>
            <a:endParaRPr lang="en-US" sz="1400" dirty="0"/>
          </a:p>
        </p:txBody>
      </p:sp>
      <p:sp>
        <p:nvSpPr>
          <p:cNvPr id="5" name="Text 3"/>
          <p:cNvSpPr txBox="1"/>
          <p:nvPr/>
        </p:nvSpPr>
        <p:spPr>
          <a:xfrm>
            <a:off x="685800" y="4206240"/>
            <a:ext cx="4572000" cy="731520"/>
          </a:xfrm>
          <a:prstGeom prst="rect">
            <a:avLst/>
          </a:prstGeom>
          <a:noFill/>
          <a:ln/>
        </p:spPr>
        <p:txBody>
          <a:bodyPr wrap="square" lIns="0" tIns="0" rIns="0" bIns="0" rtlCol="0" anchor="t"/>
          <a:lstStyle/>
          <a:p>
            <a:pPr indent="0" marL="0">
              <a:lnSpc>
                <a:spcPct val="120000"/>
              </a:lnSpc>
              <a:buNone/>
            </a:pPr>
            <a:r>
              <a:rPr lang="en-US" sz="1150" dirty="0">
                <a:solidFill>
                  <a:srgbClr val="46566D"/>
                </a:solidFill>
                <a:latin typeface="Figtree" pitchFamily="34" charset="0"/>
                <a:ea typeface="Figtree" pitchFamily="34" charset="-122"/>
                <a:cs typeface="Figtree" pitchFamily="34" charset="-120"/>
              </a:rPr>
              <a:t>A one time onboarding fee for on site setup, supervisor training and the parent orientation is quoted separately by your partner.</a:t>
            </a:r>
            <a:endParaRPr lang="en-US" sz="1150" dirty="0"/>
          </a:p>
        </p:txBody>
      </p:sp>
      <p:sp>
        <p:nvSpPr>
          <p:cNvPr id="6" name="Shape 4"/>
          <p:cNvSpPr/>
          <p:nvPr/>
        </p:nvSpPr>
        <p:spPr>
          <a:xfrm>
            <a:off x="5943600" y="1234440"/>
            <a:ext cx="5562295" cy="36576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14243D">
                <a:alpha val="12000"/>
              </a:srgbClr>
            </a:outerShdw>
          </a:effectLst>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80760" y="1371600"/>
          <a:ext cx="5287975" cy="914400"/>
        </p:xfrm>
        <a:graphic>
          <a:graphicData uri="http://schemas.openxmlformats.org/drawingml/2006/table">
            <a:tbl>
              <a:tblPr/>
              <a:tblGrid>
                <a:gridCol w="1920240"/>
                <a:gridCol w="1920240"/>
                <a:gridCol w="1447495"/>
              </a:tblGrid>
              <a:tr h="457200">
                <a:tc>
                  <a:txBody>
                    <a:bodyPr/>
                    <a:lstStyle/>
                    <a:p>
                      <a:pPr indent="0" marL="0">
                        <a:buNone/>
                      </a:pPr>
                      <a:r>
                        <a:rPr lang="en-US" sz="900" b="1" spc="200" kern="0" dirty="0">
                          <a:solidFill>
                            <a:srgbClr val="6F8197"/>
                          </a:solidFill>
                          <a:latin typeface="Figtree" pitchFamily="34" charset="0"/>
                          <a:ea typeface="Figtree" pitchFamily="34" charset="-122"/>
                          <a:cs typeface="Figtree" pitchFamily="34" charset="-120"/>
                        </a:rPr>
                        <a:t>STUDENTS ENROLLED</a:t>
                      </a:r>
                      <a:endParaRPr lang="en-US" sz="90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00" b="1" spc="200" kern="0" dirty="0">
                          <a:solidFill>
                            <a:srgbClr val="6F8197"/>
                          </a:solidFill>
                          <a:latin typeface="Figtree" pitchFamily="34" charset="0"/>
                          <a:ea typeface="Figtree" pitchFamily="34" charset="-122"/>
                          <a:cs typeface="Figtree" pitchFamily="34" charset="-120"/>
                        </a:rPr>
                        <a:t>PRICE PER STUDENT</a:t>
                      </a:r>
                      <a:endParaRPr lang="en-US" sz="90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900" b="1" spc="200" kern="0" dirty="0">
                          <a:solidFill>
                            <a:srgbClr val="6F8197"/>
                          </a:solidFill>
                          <a:latin typeface="Figtree" pitchFamily="34" charset="0"/>
                          <a:ea typeface="Figtree" pitchFamily="34" charset="-122"/>
                          <a:cs typeface="Figtree" pitchFamily="34" charset="-120"/>
                        </a:rPr>
                        <a:t>TIER</a:t>
                      </a:r>
                      <a:endParaRPr lang="en-US" sz="90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D365B"/>
                          </a:solidFill>
                          <a:latin typeface="Figtree" pitchFamily="34" charset="0"/>
                          <a:ea typeface="Figtree" pitchFamily="34" charset="-122"/>
                          <a:cs typeface="Figtree" pitchFamily="34" charset="-120"/>
                        </a:rPr>
                        <a:t>1 to 10</a:t>
                      </a:r>
                      <a:endParaRPr lang="en-US" sz="140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2000" b="1" dirty="0">
                          <a:solidFill>
                            <a:srgbClr val="1D365B"/>
                          </a:solidFill>
                          <a:latin typeface="Bricolage Grotesque" pitchFamily="34" charset="0"/>
                          <a:ea typeface="Bricolage Grotesque" pitchFamily="34" charset="-122"/>
                          <a:cs typeface="Bricolage Grotesque" pitchFamily="34" charset="-120"/>
                        </a:rPr>
                        <a:t>$1,000</a:t>
                      </a:r>
                      <a:endParaRPr lang="en-US" sz="2000" dirty="0">
                        <a:latin typeface="Bricolage Grotesque" charset="0"/>
                        <a:ea typeface="Bricolage Grotesque" charset="0"/>
                        <a:cs typeface="Bricolage Grotesqu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365B"/>
                          </a:solidFill>
                          <a:latin typeface="Figtree" pitchFamily="34" charset="0"/>
                          <a:ea typeface="Figtree" pitchFamily="34" charset="-122"/>
                          <a:cs typeface="Figtree" pitchFamily="34" charset="-120"/>
                        </a:rPr>
                        <a:t>Starter</a:t>
                      </a:r>
                      <a:endParaRPr lang="en-US" sz="105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D365B"/>
                          </a:solidFill>
                          <a:latin typeface="Figtree" pitchFamily="34" charset="0"/>
                          <a:ea typeface="Figtree" pitchFamily="34" charset="-122"/>
                          <a:cs typeface="Figtree" pitchFamily="34" charset="-120"/>
                        </a:rPr>
                        <a:t>11 to 25</a:t>
                      </a:r>
                      <a:endParaRPr lang="en-US" sz="140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2000" b="1" dirty="0">
                          <a:solidFill>
                            <a:srgbClr val="1D365B"/>
                          </a:solidFill>
                          <a:latin typeface="Bricolage Grotesque" pitchFamily="34" charset="0"/>
                          <a:ea typeface="Bricolage Grotesque" pitchFamily="34" charset="-122"/>
                          <a:cs typeface="Bricolage Grotesque" pitchFamily="34" charset="-120"/>
                        </a:rPr>
                        <a:t>$1,000</a:t>
                      </a:r>
                      <a:endParaRPr lang="en-US" sz="2000" dirty="0">
                        <a:latin typeface="Bricolage Grotesque" charset="0"/>
                        <a:ea typeface="Bricolage Grotesque" charset="0"/>
                        <a:cs typeface="Bricolage Grotesqu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365B"/>
                          </a:solidFill>
                          <a:latin typeface="Figtree" pitchFamily="34" charset="0"/>
                          <a:ea typeface="Figtree" pitchFamily="34" charset="-122"/>
                          <a:cs typeface="Figtree" pitchFamily="34" charset="-120"/>
                        </a:rPr>
                        <a:t>Group</a:t>
                      </a:r>
                      <a:endParaRPr lang="en-US" sz="105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D365B"/>
                          </a:solidFill>
                          <a:latin typeface="Figtree" pitchFamily="34" charset="0"/>
                          <a:ea typeface="Figtree" pitchFamily="34" charset="-122"/>
                          <a:cs typeface="Figtree" pitchFamily="34" charset="-120"/>
                        </a:rPr>
                        <a:t>26 to 50</a:t>
                      </a:r>
                      <a:endParaRPr lang="en-US" sz="140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2000" b="1" dirty="0">
                          <a:solidFill>
                            <a:srgbClr val="1D365B"/>
                          </a:solidFill>
                          <a:latin typeface="Bricolage Grotesque" pitchFamily="34" charset="0"/>
                          <a:ea typeface="Bricolage Grotesque" pitchFamily="34" charset="-122"/>
                          <a:cs typeface="Bricolage Grotesque" pitchFamily="34" charset="-120"/>
                        </a:rPr>
                        <a:t>$950</a:t>
                      </a:r>
                      <a:endParaRPr lang="en-US" sz="2000" dirty="0">
                        <a:latin typeface="Bricolage Grotesque" charset="0"/>
                        <a:ea typeface="Bricolage Grotesque" charset="0"/>
                        <a:cs typeface="Bricolage Grotesqu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365B"/>
                          </a:solidFill>
                          <a:latin typeface="Figtree" pitchFamily="34" charset="0"/>
                          <a:ea typeface="Figtree" pitchFamily="34" charset="-122"/>
                          <a:cs typeface="Figtree" pitchFamily="34" charset="-120"/>
                        </a:rPr>
                        <a:t>Institution</a:t>
                      </a:r>
                      <a:endParaRPr lang="en-US" sz="105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D365B"/>
                          </a:solidFill>
                          <a:latin typeface="Figtree" pitchFamily="34" charset="0"/>
                          <a:ea typeface="Figtree" pitchFamily="34" charset="-122"/>
                          <a:cs typeface="Figtree" pitchFamily="34" charset="-120"/>
                        </a:rPr>
                        <a:t>51 to 200</a:t>
                      </a:r>
                      <a:endParaRPr lang="en-US" sz="140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7EDF4"/>
                    </a:solidFill>
                  </a:tcPr>
                </a:tc>
                <a:tc>
                  <a:txBody>
                    <a:bodyPr/>
                    <a:lstStyle/>
                    <a:p>
                      <a:pPr indent="0" marL="0">
                        <a:buNone/>
                      </a:pPr>
                      <a:r>
                        <a:rPr lang="en-US" sz="2000" b="1" dirty="0">
                          <a:solidFill>
                            <a:srgbClr val="1D365B"/>
                          </a:solidFill>
                          <a:latin typeface="Bricolage Grotesque" pitchFamily="34" charset="0"/>
                          <a:ea typeface="Bricolage Grotesque" pitchFamily="34" charset="-122"/>
                          <a:cs typeface="Bricolage Grotesque" pitchFamily="34" charset="-120"/>
                        </a:rPr>
                        <a:t>$850</a:t>
                      </a:r>
                      <a:endParaRPr lang="en-US" sz="2000" dirty="0">
                        <a:latin typeface="Bricolage Grotesque" charset="0"/>
                        <a:ea typeface="Bricolage Grotesque" charset="0"/>
                        <a:cs typeface="Bricolage Grotesqu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7EDF4"/>
                    </a:solidFill>
                  </a:tcPr>
                </a:tc>
                <a:tc>
                  <a:txBody>
                    <a:bodyPr/>
                    <a:lstStyle/>
                    <a:p>
                      <a:pPr indent="0" marL="0">
                        <a:buNone/>
                      </a:pPr>
                      <a:r>
                        <a:rPr lang="en-US" sz="1050" b="1" dirty="0">
                          <a:solidFill>
                            <a:srgbClr val="1D365B"/>
                          </a:solidFill>
                          <a:latin typeface="Figtree" pitchFamily="34" charset="0"/>
                          <a:ea typeface="Figtree" pitchFamily="34" charset="-122"/>
                          <a:cs typeface="Figtree" pitchFamily="34" charset="-120"/>
                        </a:rPr>
                        <a:t>Most madaris</a:t>
                      </a:r>
                      <a:endParaRPr lang="en-US" sz="105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E7EDF4"/>
                    </a:solidFill>
                  </a:tcPr>
                </a:tc>
              </a:tr>
              <a:tr h="566928">
                <a:tc>
                  <a:txBody>
                    <a:bodyPr/>
                    <a:lstStyle/>
                    <a:p>
                      <a:pPr indent="0" marL="0">
                        <a:buNone/>
                      </a:pPr>
                      <a:r>
                        <a:rPr lang="en-US" sz="1400" b="1" dirty="0">
                          <a:solidFill>
                            <a:srgbClr val="1D365B"/>
                          </a:solidFill>
                          <a:latin typeface="Figtree" pitchFamily="34" charset="0"/>
                          <a:ea typeface="Figtree" pitchFamily="34" charset="-122"/>
                          <a:cs typeface="Figtree" pitchFamily="34" charset="-120"/>
                        </a:rPr>
                        <a:t>201 and above</a:t>
                      </a:r>
                      <a:endParaRPr lang="en-US" sz="140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2000" b="1" dirty="0">
                          <a:solidFill>
                            <a:srgbClr val="1D365B"/>
                          </a:solidFill>
                          <a:latin typeface="Bricolage Grotesque" pitchFamily="34" charset="0"/>
                          <a:ea typeface="Bricolage Grotesque" pitchFamily="34" charset="-122"/>
                          <a:cs typeface="Bricolage Grotesque" pitchFamily="34" charset="-120"/>
                        </a:rPr>
                        <a:t>$800</a:t>
                      </a:r>
                      <a:endParaRPr lang="en-US" sz="2000" dirty="0">
                        <a:latin typeface="Bricolage Grotesque" charset="0"/>
                        <a:ea typeface="Bricolage Grotesque" charset="0"/>
                        <a:cs typeface="Bricolage Grotesqu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050" b="1" dirty="0">
                          <a:solidFill>
                            <a:srgbClr val="1D365B"/>
                          </a:solidFill>
                          <a:latin typeface="Figtree" pitchFamily="34" charset="0"/>
                          <a:ea typeface="Figtree" pitchFamily="34" charset="-122"/>
                          <a:cs typeface="Figtree" pitchFamily="34" charset="-120"/>
                        </a:rPr>
                        <a:t>Network</a:t>
                      </a:r>
                      <a:endParaRPr lang="en-US" sz="1050" dirty="0">
                        <a:latin typeface="Figtree" charset="0"/>
                        <a:ea typeface="Figtree" charset="0"/>
                        <a:cs typeface="Figtree" charset="0"/>
                      </a:endParaRPr>
                    </a:p>
                  </a:txBody>
                  <a:tcPr marL="164592" marR="164592" marT="0" marB="0" anchor="ctr">
                    <a:lnL w="0" cap="flat" cmpd="sng" algn="ctr">
                      <a:noFill/>
                    </a:lnL>
                    <a:lnR w="0" cap="flat" cmpd="sng" algn="ctr">
                      <a:noFill/>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85800" y="6355080"/>
            <a:ext cx="3657600" cy="274320"/>
          </a:xfrm>
          <a:prstGeom prst="rect">
            <a:avLst/>
          </a:prstGeom>
          <a:noFill/>
          <a:ln/>
        </p:spPr>
        <p:txBody>
          <a:bodyPr wrap="square" lIns="0" tIns="0" rIns="0" bIns="0" rtlCol="0" anchor="ctr"/>
          <a:lstStyle/>
          <a:p>
            <a:pPr indent="0" marL="0">
              <a:buNone/>
            </a:pPr>
            <a:r>
              <a:rPr lang="en-US" sz="900" dirty="0">
                <a:solidFill>
                  <a:srgbClr val="6F8197"/>
                </a:solidFill>
                <a:latin typeface="Figtree" pitchFamily="34" charset="0"/>
                <a:ea typeface="Figtree" pitchFamily="34" charset="-122"/>
                <a:cs typeface="Figtree" pitchFamily="34" charset="-120"/>
              </a:rPr>
              <a:t>Toronto Global Academy</a:t>
            </a:r>
            <a:endParaRPr lang="en-US" sz="900" dirty="0"/>
          </a:p>
        </p:txBody>
      </p:sp>
      <p:sp>
        <p:nvSpPr>
          <p:cNvPr id="9" name="Text 6"/>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900" dirty="0">
                <a:solidFill>
                  <a:srgbClr val="6F8197"/>
                </a:solidFill>
                <a:latin typeface="Figtree" pitchFamily="34" charset="0"/>
                <a:ea typeface="Figtree" pitchFamily="34" charset="-122"/>
                <a:cs typeface="Figtree"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005840"/>
            <a:ext cx="7315200" cy="274320"/>
          </a:xfrm>
          <a:prstGeom prst="rect">
            <a:avLst/>
          </a:prstGeom>
          <a:noFill/>
          <a:ln/>
        </p:spPr>
        <p:txBody>
          <a:bodyPr wrap="square" lIns="0" tIns="0" rIns="0" bIns="0" rtlCol="0" anchor="ctr"/>
          <a:lstStyle/>
          <a:p>
            <a:pPr indent="0" marL="0">
              <a:buNone/>
            </a:pPr>
            <a:r>
              <a:rPr lang="en-US" sz="1000" b="1" spc="300" kern="0" dirty="0">
                <a:solidFill>
                  <a:srgbClr val="6F8197"/>
                </a:solidFill>
                <a:latin typeface="Figtree" pitchFamily="34" charset="0"/>
                <a:ea typeface="Figtree" pitchFamily="34" charset="-122"/>
                <a:cs typeface="Figtree" pitchFamily="34" charset="-120"/>
              </a:rPr>
              <a:t>PAYMENT OPTIONS</a:t>
            </a:r>
            <a:endParaRPr lang="en-US" sz="1000" dirty="0"/>
          </a:p>
        </p:txBody>
      </p:sp>
      <p:sp>
        <p:nvSpPr>
          <p:cNvPr id="3" name="Text 1"/>
          <p:cNvSpPr txBox="1"/>
          <p:nvPr/>
        </p:nvSpPr>
        <p:spPr>
          <a:xfrm>
            <a:off x="685800" y="1325880"/>
            <a:ext cx="9601200" cy="822960"/>
          </a:xfrm>
          <a:prstGeom prst="rect">
            <a:avLst/>
          </a:prstGeom>
          <a:noFill/>
          <a:ln/>
        </p:spPr>
        <p:txBody>
          <a:bodyPr wrap="square" lIns="0" tIns="0" rIns="0" bIns="0" rtlCol="0" anchor="t"/>
          <a:lstStyle/>
          <a:p>
            <a:pPr indent="0" marL="0">
              <a:lnSpc>
                <a:spcPct val="105000"/>
              </a:lnSpc>
              <a:buNone/>
            </a:pPr>
            <a:r>
              <a:rPr lang="en-US" sz="3400" b="1" dirty="0">
                <a:solidFill>
                  <a:srgbClr val="1D365B"/>
                </a:solidFill>
                <a:latin typeface="Bricolage Grotesque" pitchFamily="34" charset="0"/>
                <a:ea typeface="Bricolage Grotesque" pitchFamily="34" charset="-122"/>
                <a:cs typeface="Bricolage Grotesque" pitchFamily="34" charset="-120"/>
              </a:rPr>
              <a:t>Pay the way your institution budgets.</a:t>
            </a:r>
            <a:endParaRPr lang="en-US" sz="3400" dirty="0"/>
          </a:p>
        </p:txBody>
      </p:sp>
      <p:sp>
        <p:nvSpPr>
          <p:cNvPr id="4" name="Shape 2"/>
          <p:cNvSpPr/>
          <p:nvPr/>
        </p:nvSpPr>
        <p:spPr>
          <a:xfrm>
            <a:off x="685800" y="2468880"/>
            <a:ext cx="3454298" cy="2240280"/>
          </a:xfrm>
          <a:prstGeom prst="roundRect">
            <a:avLst>
              <a:gd name="adj" fmla="val 6531"/>
            </a:avLst>
          </a:prstGeom>
          <a:solidFill>
            <a:srgbClr val="E7EDF4"/>
          </a:solidFill>
          <a:ln w="12700">
            <a:solidFill>
              <a:srgbClr val="E7EDF4"/>
            </a:solidFill>
            <a:prstDash val="solid"/>
          </a:ln>
        </p:spPr>
      </p:sp>
      <p:pic>
        <p:nvPicPr>
          <p:cNvPr id="5" name="Image 0" descr="/root/deck/icons/card_navy.png">    </p:cNvPr>
          <p:cNvPicPr>
            <a:picLocks noChangeAspect="1"/>
          </p:cNvPicPr>
          <p:nvPr/>
        </p:nvPicPr>
        <p:blipFill>
          <a:blip r:embed="rId1"/>
          <a:stretch>
            <a:fillRect/>
          </a:stretch>
        </p:blipFill>
        <p:spPr>
          <a:xfrm>
            <a:off x="941832" y="2724912"/>
            <a:ext cx="502920" cy="502920"/>
          </a:xfrm>
          <a:prstGeom prst="rect">
            <a:avLst/>
          </a:prstGeom>
        </p:spPr>
      </p:pic>
      <p:sp>
        <p:nvSpPr>
          <p:cNvPr id="6" name="Text 3"/>
          <p:cNvSpPr txBox="1"/>
          <p:nvPr/>
        </p:nvSpPr>
        <p:spPr>
          <a:xfrm>
            <a:off x="941832" y="3364992"/>
            <a:ext cx="2942234"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In full at enrolment</a:t>
            </a:r>
            <a:endParaRPr lang="en-US" sz="1600" dirty="0"/>
          </a:p>
        </p:txBody>
      </p:sp>
      <p:sp>
        <p:nvSpPr>
          <p:cNvPr id="7" name="Text 4"/>
          <p:cNvSpPr txBox="1"/>
          <p:nvPr/>
        </p:nvSpPr>
        <p:spPr>
          <a:xfrm>
            <a:off x="941832" y="3931920"/>
            <a:ext cx="2942234" cy="54864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One invoice, settled once. The simplest option for institutions that collect fees up front.</a:t>
            </a:r>
            <a:endParaRPr lang="en-US" sz="1250" dirty="0"/>
          </a:p>
        </p:txBody>
      </p:sp>
      <p:sp>
        <p:nvSpPr>
          <p:cNvPr id="8" name="Shape 5"/>
          <p:cNvSpPr/>
          <p:nvPr/>
        </p:nvSpPr>
        <p:spPr>
          <a:xfrm>
            <a:off x="4368698" y="2468880"/>
            <a:ext cx="3454298" cy="2240280"/>
          </a:xfrm>
          <a:prstGeom prst="roundRect">
            <a:avLst>
              <a:gd name="adj" fmla="val 6531"/>
            </a:avLst>
          </a:prstGeom>
          <a:solidFill>
            <a:srgbClr val="E7EDF4"/>
          </a:solidFill>
          <a:ln w="12700">
            <a:solidFill>
              <a:srgbClr val="E7EDF4"/>
            </a:solidFill>
            <a:prstDash val="solid"/>
          </a:ln>
        </p:spPr>
      </p:sp>
      <p:pic>
        <p:nvPicPr>
          <p:cNvPr id="9" name="Image 1" descr="/root/deck/icons/half_navy.png">    </p:cNvPr>
          <p:cNvPicPr>
            <a:picLocks noChangeAspect="1"/>
          </p:cNvPicPr>
          <p:nvPr/>
        </p:nvPicPr>
        <p:blipFill>
          <a:blip r:embed="rId2"/>
          <a:stretch>
            <a:fillRect/>
          </a:stretch>
        </p:blipFill>
        <p:spPr>
          <a:xfrm>
            <a:off x="4624730" y="2724912"/>
            <a:ext cx="502920" cy="502920"/>
          </a:xfrm>
          <a:prstGeom prst="rect">
            <a:avLst/>
          </a:prstGeom>
        </p:spPr>
      </p:pic>
      <p:sp>
        <p:nvSpPr>
          <p:cNvPr id="10" name="Text 6"/>
          <p:cNvSpPr txBox="1"/>
          <p:nvPr/>
        </p:nvSpPr>
        <p:spPr>
          <a:xfrm>
            <a:off x="4624730" y="3364992"/>
            <a:ext cx="2942234"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Two instalments</a:t>
            </a:r>
            <a:endParaRPr lang="en-US" sz="1600" dirty="0"/>
          </a:p>
        </p:txBody>
      </p:sp>
      <p:sp>
        <p:nvSpPr>
          <p:cNvPr id="11" name="Text 7"/>
          <p:cNvSpPr txBox="1"/>
          <p:nvPr/>
        </p:nvSpPr>
        <p:spPr>
          <a:xfrm>
            <a:off x="4624730" y="3931920"/>
            <a:ext cx="2942234" cy="54864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Half at enrolment and half mid year. Matches how most families pay the madrasah.</a:t>
            </a:r>
            <a:endParaRPr lang="en-US" sz="1250" dirty="0"/>
          </a:p>
        </p:txBody>
      </p:sp>
      <p:sp>
        <p:nvSpPr>
          <p:cNvPr id="12" name="Shape 8"/>
          <p:cNvSpPr/>
          <p:nvPr/>
        </p:nvSpPr>
        <p:spPr>
          <a:xfrm>
            <a:off x="8051597" y="2468880"/>
            <a:ext cx="3454298" cy="2240280"/>
          </a:xfrm>
          <a:prstGeom prst="roundRect">
            <a:avLst>
              <a:gd name="adj" fmla="val 6531"/>
            </a:avLst>
          </a:prstGeom>
          <a:solidFill>
            <a:srgbClr val="E7EDF4"/>
          </a:solidFill>
          <a:ln w="12700">
            <a:solidFill>
              <a:srgbClr val="E7EDF4"/>
            </a:solidFill>
            <a:prstDash val="solid"/>
          </a:ln>
        </p:spPr>
      </p:sp>
      <p:pic>
        <p:nvPicPr>
          <p:cNvPr id="13" name="Image 2" descr="/root/deck/icons/calendar_navy.png">    </p:cNvPr>
          <p:cNvPicPr>
            <a:picLocks noChangeAspect="1"/>
          </p:cNvPicPr>
          <p:nvPr/>
        </p:nvPicPr>
        <p:blipFill>
          <a:blip r:embed="rId3"/>
          <a:stretch>
            <a:fillRect/>
          </a:stretch>
        </p:blipFill>
        <p:spPr>
          <a:xfrm>
            <a:off x="8307629" y="2724912"/>
            <a:ext cx="502920" cy="502920"/>
          </a:xfrm>
          <a:prstGeom prst="rect">
            <a:avLst/>
          </a:prstGeom>
        </p:spPr>
      </p:pic>
      <p:sp>
        <p:nvSpPr>
          <p:cNvPr id="14" name="Text 9"/>
          <p:cNvSpPr txBox="1"/>
          <p:nvPr/>
        </p:nvSpPr>
        <p:spPr>
          <a:xfrm>
            <a:off x="8307629" y="3364992"/>
            <a:ext cx="2942234"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Yearly billing</a:t>
            </a:r>
            <a:endParaRPr lang="en-US" sz="1600" dirty="0"/>
          </a:p>
        </p:txBody>
      </p:sp>
      <p:sp>
        <p:nvSpPr>
          <p:cNvPr id="15" name="Text 10"/>
          <p:cNvSpPr txBox="1"/>
          <p:nvPr/>
        </p:nvSpPr>
        <p:spPr>
          <a:xfrm>
            <a:off x="8307629" y="3931920"/>
            <a:ext cx="2942234" cy="54864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For institutions that re-enrol each year. One invoice per school year, on your calendar.</a:t>
            </a:r>
            <a:endParaRPr lang="en-US" sz="1250" dirty="0"/>
          </a:p>
        </p:txBody>
      </p:sp>
      <p:pic>
        <p:nvPicPr>
          <p:cNvPr id="16" name="Image 3" descr="/root/deck/icons/check_amber.png">    </p:cNvPr>
          <p:cNvPicPr>
            <a:picLocks noChangeAspect="1"/>
          </p:cNvPicPr>
          <p:nvPr/>
        </p:nvPicPr>
        <p:blipFill>
          <a:blip r:embed="rId4"/>
          <a:stretch>
            <a:fillRect/>
          </a:stretch>
        </p:blipFill>
        <p:spPr>
          <a:xfrm>
            <a:off x="685800" y="5029200"/>
            <a:ext cx="384048" cy="384048"/>
          </a:xfrm>
          <a:prstGeom prst="rect">
            <a:avLst/>
          </a:prstGeom>
        </p:spPr>
      </p:pic>
      <p:sp>
        <p:nvSpPr>
          <p:cNvPr id="17" name="Text 11"/>
          <p:cNvSpPr txBox="1"/>
          <p:nvPr/>
        </p:nvSpPr>
        <p:spPr>
          <a:xfrm>
            <a:off x="1234440" y="4983480"/>
            <a:ext cx="10058400" cy="475488"/>
          </a:xfrm>
          <a:prstGeom prst="rect">
            <a:avLst/>
          </a:prstGeom>
          <a:noFill/>
          <a:ln/>
        </p:spPr>
        <p:txBody>
          <a:bodyPr wrap="square" lIns="0" tIns="0" rIns="0" bIns="0" rtlCol="0" anchor="ctr"/>
          <a:lstStyle/>
          <a:p>
            <a:pPr indent="0" marL="0">
              <a:buNone/>
            </a:pPr>
            <a:r>
              <a:rPr lang="en-US" sz="1350" b="1" dirty="0">
                <a:solidFill>
                  <a:srgbClr val="1D365B"/>
                </a:solidFill>
                <a:latin typeface="Figtree" pitchFamily="34" charset="0"/>
                <a:ea typeface="Figtree" pitchFamily="34" charset="-122"/>
                <a:cs typeface="Figtree" pitchFamily="34" charset="-120"/>
              </a:rPr>
              <a:t>TGA invoices your institution directly.</a:t>
            </a:r>
            <a:pPr indent="0" marL="0">
              <a:buNone/>
            </a:pPr>
            <a:r>
              <a:rPr lang="en-US" sz="1350" dirty="0">
                <a:solidFill>
                  <a:srgbClr val="46566D"/>
                </a:solidFill>
                <a:latin typeface="Figtree" pitchFamily="34" charset="0"/>
                <a:ea typeface="Figtree" pitchFamily="34" charset="-122"/>
                <a:cs typeface="Figtree" pitchFamily="34" charset="-120"/>
              </a:rPr>
              <a:t> Group pricing applies to every student you enrol, and the tier is set by your total enrolment.</a:t>
            </a:r>
            <a:endParaRPr lang="en-US" sz="1350" dirty="0"/>
          </a:p>
        </p:txBody>
      </p:sp>
      <p:sp>
        <p:nvSpPr>
          <p:cNvPr id="18" name="Text 12"/>
          <p:cNvSpPr txBox="1"/>
          <p:nvPr/>
        </p:nvSpPr>
        <p:spPr>
          <a:xfrm>
            <a:off x="685800" y="6355080"/>
            <a:ext cx="3657600" cy="274320"/>
          </a:xfrm>
          <a:prstGeom prst="rect">
            <a:avLst/>
          </a:prstGeom>
          <a:noFill/>
          <a:ln/>
        </p:spPr>
        <p:txBody>
          <a:bodyPr wrap="square" lIns="0" tIns="0" rIns="0" bIns="0" rtlCol="0" anchor="ctr"/>
          <a:lstStyle/>
          <a:p>
            <a:pPr indent="0" marL="0">
              <a:buNone/>
            </a:pPr>
            <a:r>
              <a:rPr lang="en-US" sz="900" dirty="0">
                <a:solidFill>
                  <a:srgbClr val="6F8197"/>
                </a:solidFill>
                <a:latin typeface="Figtree" pitchFamily="34" charset="0"/>
                <a:ea typeface="Figtree" pitchFamily="34" charset="-122"/>
                <a:cs typeface="Figtree" pitchFamily="34" charset="-120"/>
              </a:rPr>
              <a:t>Toronto Global Academy</a:t>
            </a:r>
            <a:endParaRPr lang="en-US" sz="900" dirty="0"/>
          </a:p>
        </p:txBody>
      </p:sp>
      <p:sp>
        <p:nvSpPr>
          <p:cNvPr id="19" name="Text 13"/>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900" dirty="0">
                <a:solidFill>
                  <a:srgbClr val="6F8197"/>
                </a:solidFill>
                <a:latin typeface="Figtree" pitchFamily="34" charset="0"/>
                <a:ea typeface="Figtree" pitchFamily="34" charset="-122"/>
                <a:cs typeface="Figtree"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7EDF4"/>
        </a:solidFill>
      </p:bgPr>
    </p:bg>
    <p:spTree>
      <p:nvGrpSpPr>
        <p:cNvPr id="1" name=""/>
        <p:cNvGrpSpPr/>
        <p:nvPr/>
      </p:nvGrpSpPr>
      <p:grpSpPr>
        <a:xfrm>
          <a:off x="0" y="0"/>
          <a:ext cx="0" cy="0"/>
          <a:chOff x="0" y="0"/>
          <a:chExt cx="0" cy="0"/>
        </a:xfrm>
      </p:grpSpPr>
      <p:sp>
        <p:nvSpPr>
          <p:cNvPr id="2" name="Text 0"/>
          <p:cNvSpPr txBox="1"/>
          <p:nvPr/>
        </p:nvSpPr>
        <p:spPr>
          <a:xfrm>
            <a:off x="685800" y="1005840"/>
            <a:ext cx="7315200" cy="274320"/>
          </a:xfrm>
          <a:prstGeom prst="rect">
            <a:avLst/>
          </a:prstGeom>
          <a:noFill/>
          <a:ln/>
        </p:spPr>
        <p:txBody>
          <a:bodyPr wrap="square" lIns="0" tIns="0" rIns="0" bIns="0" rtlCol="0" anchor="ctr"/>
          <a:lstStyle/>
          <a:p>
            <a:pPr indent="0" marL="0">
              <a:buNone/>
            </a:pPr>
            <a:r>
              <a:rPr lang="en-US" sz="1000" b="1" spc="300" kern="0" dirty="0">
                <a:solidFill>
                  <a:srgbClr val="6F8197"/>
                </a:solidFill>
                <a:latin typeface="Figtree" pitchFamily="34" charset="0"/>
                <a:ea typeface="Figtree" pitchFamily="34" charset="-122"/>
                <a:cs typeface="Figtree" pitchFamily="34" charset="-120"/>
              </a:rPr>
              <a:t>GETTING STARTED</a:t>
            </a:r>
            <a:endParaRPr lang="en-US" sz="1000" dirty="0"/>
          </a:p>
        </p:txBody>
      </p:sp>
      <p:sp>
        <p:nvSpPr>
          <p:cNvPr id="3" name="Text 1"/>
          <p:cNvSpPr txBox="1"/>
          <p:nvPr/>
        </p:nvSpPr>
        <p:spPr>
          <a:xfrm>
            <a:off x="685800" y="1325880"/>
            <a:ext cx="9601200" cy="822960"/>
          </a:xfrm>
          <a:prstGeom prst="rect">
            <a:avLst/>
          </a:prstGeom>
          <a:noFill/>
          <a:ln/>
        </p:spPr>
        <p:txBody>
          <a:bodyPr wrap="square" lIns="0" tIns="0" rIns="0" bIns="0" rtlCol="0" anchor="t"/>
          <a:lstStyle/>
          <a:p>
            <a:pPr indent="0" marL="0">
              <a:lnSpc>
                <a:spcPct val="105000"/>
              </a:lnSpc>
              <a:buNone/>
            </a:pPr>
            <a:r>
              <a:rPr lang="en-US" sz="3400" b="1" dirty="0">
                <a:solidFill>
                  <a:srgbClr val="1D365B"/>
                </a:solidFill>
                <a:latin typeface="Bricolage Grotesque" pitchFamily="34" charset="0"/>
                <a:ea typeface="Bricolage Grotesque" pitchFamily="34" charset="-122"/>
                <a:cs typeface="Bricolage Grotesque" pitchFamily="34" charset="-120"/>
              </a:rPr>
              <a:t>From first conversation to first report card.</a:t>
            </a:r>
            <a:endParaRPr lang="en-US" sz="3400" dirty="0"/>
          </a:p>
        </p:txBody>
      </p:sp>
      <p:sp>
        <p:nvSpPr>
          <p:cNvPr id="4" name="Shape 2"/>
          <p:cNvSpPr/>
          <p:nvPr/>
        </p:nvSpPr>
        <p:spPr>
          <a:xfrm>
            <a:off x="685800" y="2468880"/>
            <a:ext cx="2533574" cy="2651760"/>
          </a:xfrm>
          <a:prstGeom prst="roundRect">
            <a:avLst>
              <a:gd name="adj" fmla="val 5775"/>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sp>
        <p:nvSpPr>
          <p:cNvPr id="5" name="Shape 3"/>
          <p:cNvSpPr/>
          <p:nvPr/>
        </p:nvSpPr>
        <p:spPr>
          <a:xfrm>
            <a:off x="941832" y="2724912"/>
            <a:ext cx="457200" cy="457200"/>
          </a:xfrm>
          <a:prstGeom prst="ellipse">
            <a:avLst/>
          </a:prstGeom>
          <a:solidFill>
            <a:srgbClr val="1D365B"/>
          </a:solidFill>
          <a:ln w="12700">
            <a:solidFill>
              <a:srgbClr val="1D365B"/>
            </a:solidFill>
            <a:prstDash val="solid"/>
          </a:ln>
        </p:spPr>
      </p:sp>
      <p:sp>
        <p:nvSpPr>
          <p:cNvPr id="6" name="Text 4"/>
          <p:cNvSpPr txBox="1"/>
          <p:nvPr/>
        </p:nvSpPr>
        <p:spPr>
          <a:xfrm>
            <a:off x="941832" y="27249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ricolage Grotesque" pitchFamily="34" charset="0"/>
                <a:ea typeface="Bricolage Grotesque" pitchFamily="34" charset="-122"/>
                <a:cs typeface="Bricolage Grotesque" pitchFamily="34" charset="-120"/>
              </a:rPr>
              <a:t>1</a:t>
            </a:r>
            <a:endParaRPr lang="en-US" sz="1600" dirty="0"/>
          </a:p>
        </p:txBody>
      </p:sp>
      <p:sp>
        <p:nvSpPr>
          <p:cNvPr id="7" name="Text 5"/>
          <p:cNvSpPr txBox="1"/>
          <p:nvPr/>
        </p:nvSpPr>
        <p:spPr>
          <a:xfrm>
            <a:off x="941832" y="3337560"/>
            <a:ext cx="2021510"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Site visit</a:t>
            </a:r>
            <a:endParaRPr lang="en-US" sz="1600" dirty="0"/>
          </a:p>
        </p:txBody>
      </p:sp>
      <p:sp>
        <p:nvSpPr>
          <p:cNvPr id="8" name="Text 6"/>
          <p:cNvSpPr txBox="1"/>
          <p:nvPr/>
        </p:nvSpPr>
        <p:spPr>
          <a:xfrm>
            <a:off x="941832" y="3931920"/>
            <a:ext cx="2021510" cy="96012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We meet your leadership, see the space and walk through the program with your team.</a:t>
            </a:r>
            <a:endParaRPr lang="en-US" sz="1250" dirty="0"/>
          </a:p>
        </p:txBody>
      </p:sp>
      <p:sp>
        <p:nvSpPr>
          <p:cNvPr id="9" name="Shape 7"/>
          <p:cNvSpPr/>
          <p:nvPr/>
        </p:nvSpPr>
        <p:spPr>
          <a:xfrm>
            <a:off x="3447974" y="2468880"/>
            <a:ext cx="2533574" cy="2651760"/>
          </a:xfrm>
          <a:prstGeom prst="roundRect">
            <a:avLst>
              <a:gd name="adj" fmla="val 5775"/>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sp>
        <p:nvSpPr>
          <p:cNvPr id="10" name="Shape 8"/>
          <p:cNvSpPr/>
          <p:nvPr/>
        </p:nvSpPr>
        <p:spPr>
          <a:xfrm>
            <a:off x="3704006" y="2724912"/>
            <a:ext cx="457200" cy="457200"/>
          </a:xfrm>
          <a:prstGeom prst="ellipse">
            <a:avLst/>
          </a:prstGeom>
          <a:solidFill>
            <a:srgbClr val="1D365B"/>
          </a:solidFill>
          <a:ln w="12700">
            <a:solidFill>
              <a:srgbClr val="1D365B"/>
            </a:solidFill>
            <a:prstDash val="solid"/>
          </a:ln>
        </p:spPr>
      </p:sp>
      <p:sp>
        <p:nvSpPr>
          <p:cNvPr id="11" name="Text 9"/>
          <p:cNvSpPr txBox="1"/>
          <p:nvPr/>
        </p:nvSpPr>
        <p:spPr>
          <a:xfrm>
            <a:off x="3704006" y="27249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ricolage Grotesque" pitchFamily="34" charset="0"/>
                <a:ea typeface="Bricolage Grotesque" pitchFamily="34" charset="-122"/>
                <a:cs typeface="Bricolage Grotesque" pitchFamily="34" charset="-120"/>
              </a:rPr>
              <a:t>2</a:t>
            </a:r>
            <a:endParaRPr lang="en-US" sz="1600" dirty="0"/>
          </a:p>
        </p:txBody>
      </p:sp>
      <p:sp>
        <p:nvSpPr>
          <p:cNvPr id="12" name="Text 10"/>
          <p:cNvSpPr txBox="1"/>
          <p:nvPr/>
        </p:nvSpPr>
        <p:spPr>
          <a:xfrm>
            <a:off x="3704006" y="3337560"/>
            <a:ext cx="2021510"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Enrolment and placement</a:t>
            </a:r>
            <a:endParaRPr lang="en-US" sz="1600" dirty="0"/>
          </a:p>
        </p:txBody>
      </p:sp>
      <p:sp>
        <p:nvSpPr>
          <p:cNvPr id="13" name="Text 11"/>
          <p:cNvSpPr txBox="1"/>
          <p:nvPr/>
        </p:nvSpPr>
        <p:spPr>
          <a:xfrm>
            <a:off x="3704006" y="3931920"/>
            <a:ext cx="2021510" cy="96012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You share the student list. TGA reviews prior learning and places each student in the right grade.</a:t>
            </a:r>
            <a:endParaRPr lang="en-US" sz="1250" dirty="0"/>
          </a:p>
        </p:txBody>
      </p:sp>
      <p:sp>
        <p:nvSpPr>
          <p:cNvPr id="14" name="Shape 12"/>
          <p:cNvSpPr/>
          <p:nvPr/>
        </p:nvSpPr>
        <p:spPr>
          <a:xfrm>
            <a:off x="6210148" y="2468880"/>
            <a:ext cx="2533574" cy="2651760"/>
          </a:xfrm>
          <a:prstGeom prst="roundRect">
            <a:avLst>
              <a:gd name="adj" fmla="val 5775"/>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sp>
        <p:nvSpPr>
          <p:cNvPr id="15" name="Shape 13"/>
          <p:cNvSpPr/>
          <p:nvPr/>
        </p:nvSpPr>
        <p:spPr>
          <a:xfrm>
            <a:off x="6466180" y="2724912"/>
            <a:ext cx="457200" cy="457200"/>
          </a:xfrm>
          <a:prstGeom prst="ellipse">
            <a:avLst/>
          </a:prstGeom>
          <a:solidFill>
            <a:srgbClr val="1D365B"/>
          </a:solidFill>
          <a:ln w="12700">
            <a:solidFill>
              <a:srgbClr val="1D365B"/>
            </a:solidFill>
            <a:prstDash val="solid"/>
          </a:ln>
        </p:spPr>
      </p:sp>
      <p:sp>
        <p:nvSpPr>
          <p:cNvPr id="16" name="Text 14"/>
          <p:cNvSpPr txBox="1"/>
          <p:nvPr/>
        </p:nvSpPr>
        <p:spPr>
          <a:xfrm>
            <a:off x="6466180" y="27249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ricolage Grotesque" pitchFamily="34" charset="0"/>
                <a:ea typeface="Bricolage Grotesque" pitchFamily="34" charset="-122"/>
                <a:cs typeface="Bricolage Grotesque" pitchFamily="34" charset="-120"/>
              </a:rPr>
              <a:t>3</a:t>
            </a:r>
            <a:endParaRPr lang="en-US" sz="1600" dirty="0"/>
          </a:p>
        </p:txBody>
      </p:sp>
      <p:sp>
        <p:nvSpPr>
          <p:cNvPr id="17" name="Text 15"/>
          <p:cNvSpPr txBox="1"/>
          <p:nvPr/>
        </p:nvSpPr>
        <p:spPr>
          <a:xfrm>
            <a:off x="6466180" y="3337560"/>
            <a:ext cx="2021510"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Onboarding</a:t>
            </a:r>
            <a:endParaRPr lang="en-US" sz="1600" dirty="0"/>
          </a:p>
        </p:txBody>
      </p:sp>
      <p:sp>
        <p:nvSpPr>
          <p:cNvPr id="18" name="Text 16"/>
          <p:cNvSpPr txBox="1"/>
          <p:nvPr/>
        </p:nvSpPr>
        <p:spPr>
          <a:xfrm>
            <a:off x="6466180" y="3931920"/>
            <a:ext cx="2021510" cy="96012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Platform setup, supervisor orientation and a parent session, delivered on site by your partner.</a:t>
            </a:r>
            <a:endParaRPr lang="en-US" sz="1250" dirty="0"/>
          </a:p>
        </p:txBody>
      </p:sp>
      <p:sp>
        <p:nvSpPr>
          <p:cNvPr id="19" name="Shape 17"/>
          <p:cNvSpPr/>
          <p:nvPr/>
        </p:nvSpPr>
        <p:spPr>
          <a:xfrm>
            <a:off x="8972321" y="2468880"/>
            <a:ext cx="2533574" cy="2651760"/>
          </a:xfrm>
          <a:prstGeom prst="roundRect">
            <a:avLst>
              <a:gd name="adj" fmla="val 5775"/>
            </a:avLst>
          </a:prstGeom>
          <a:solidFill>
            <a:srgbClr val="FFFFFF"/>
          </a:solidFill>
          <a:ln w="9525">
            <a:solidFill>
              <a:srgbClr val="D5DDE8"/>
            </a:solidFill>
            <a:prstDash val="solid"/>
          </a:ln>
          <a:effectLst>
            <a:outerShdw sx="100000" sy="100000" kx="0" ky="0" algn="bl" rotWithShape="0" blurRad="101600" dist="25400" dir="5400000">
              <a:srgbClr val="14243D">
                <a:alpha val="12000"/>
              </a:srgbClr>
            </a:outerShdw>
          </a:effectLst>
        </p:spPr>
      </p:sp>
      <p:sp>
        <p:nvSpPr>
          <p:cNvPr id="20" name="Shape 18"/>
          <p:cNvSpPr/>
          <p:nvPr/>
        </p:nvSpPr>
        <p:spPr>
          <a:xfrm>
            <a:off x="9228353" y="2724912"/>
            <a:ext cx="457200" cy="457200"/>
          </a:xfrm>
          <a:prstGeom prst="ellipse">
            <a:avLst/>
          </a:prstGeom>
          <a:solidFill>
            <a:srgbClr val="FFAE04"/>
          </a:solidFill>
          <a:ln w="12700">
            <a:solidFill>
              <a:srgbClr val="FFAE04"/>
            </a:solidFill>
            <a:prstDash val="solid"/>
          </a:ln>
        </p:spPr>
      </p:sp>
      <p:sp>
        <p:nvSpPr>
          <p:cNvPr id="21" name="Text 19"/>
          <p:cNvSpPr txBox="1"/>
          <p:nvPr/>
        </p:nvSpPr>
        <p:spPr>
          <a:xfrm>
            <a:off x="9228353" y="2724912"/>
            <a:ext cx="457200" cy="457200"/>
          </a:xfrm>
          <a:prstGeom prst="rect">
            <a:avLst/>
          </a:prstGeom>
          <a:noFill/>
          <a:ln/>
        </p:spPr>
        <p:txBody>
          <a:bodyPr wrap="square" lIns="0" tIns="0" rIns="0" bIns="0" rtlCol="0" anchor="ctr"/>
          <a:lstStyle/>
          <a:p>
            <a:pPr algn="ct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4</a:t>
            </a:r>
            <a:endParaRPr lang="en-US" sz="1600" dirty="0"/>
          </a:p>
        </p:txBody>
      </p:sp>
      <p:sp>
        <p:nvSpPr>
          <p:cNvPr id="22" name="Text 20"/>
          <p:cNvSpPr txBox="1"/>
          <p:nvPr/>
        </p:nvSpPr>
        <p:spPr>
          <a:xfrm>
            <a:off x="9228353" y="3337560"/>
            <a:ext cx="2021510" cy="566928"/>
          </a:xfrm>
          <a:prstGeom prst="rect">
            <a:avLst/>
          </a:prstGeom>
          <a:noFill/>
          <a:ln/>
        </p:spPr>
        <p:txBody>
          <a:bodyPr wrap="square" lIns="0" tIns="0" rIns="0" bIns="0" rtlCol="0" anchor="t"/>
          <a:lstStyle/>
          <a:p>
            <a:pPr indent="0" marL="0">
              <a:buNone/>
            </a:pPr>
            <a:r>
              <a:rPr lang="en-US" sz="1600" b="1" dirty="0">
                <a:solidFill>
                  <a:srgbClr val="1D365B"/>
                </a:solidFill>
                <a:latin typeface="Bricolage Grotesque" pitchFamily="34" charset="0"/>
                <a:ea typeface="Bricolage Grotesque" pitchFamily="34" charset="-122"/>
                <a:cs typeface="Bricolage Grotesque" pitchFamily="34" charset="-120"/>
              </a:rPr>
              <a:t>Launch</a:t>
            </a:r>
            <a:endParaRPr lang="en-US" sz="1600" dirty="0"/>
          </a:p>
        </p:txBody>
      </p:sp>
      <p:sp>
        <p:nvSpPr>
          <p:cNvPr id="23" name="Text 21"/>
          <p:cNvSpPr txBox="1"/>
          <p:nvPr/>
        </p:nvSpPr>
        <p:spPr>
          <a:xfrm>
            <a:off x="9228353" y="3931920"/>
            <a:ext cx="2021510" cy="960120"/>
          </a:xfrm>
          <a:prstGeom prst="rect">
            <a:avLst/>
          </a:prstGeom>
          <a:noFill/>
          <a:ln/>
        </p:spPr>
        <p:txBody>
          <a:bodyPr wrap="square" lIns="0" tIns="0" rIns="0" bIns="0" rtlCol="0" anchor="t"/>
          <a:lstStyle/>
          <a:p>
            <a:pPr indent="0" marL="0">
              <a:lnSpc>
                <a:spcPct val="115000"/>
              </a:lnSpc>
              <a:buNone/>
            </a:pPr>
            <a:r>
              <a:rPr lang="en-US" sz="1250" dirty="0">
                <a:solidFill>
                  <a:srgbClr val="46566D"/>
                </a:solidFill>
                <a:latin typeface="Figtree" pitchFamily="34" charset="0"/>
                <a:ea typeface="Figtree" pitchFamily="34" charset="-122"/>
                <a:cs typeface="Figtree" pitchFamily="34" charset="-120"/>
              </a:rPr>
              <a:t>Students start any month. The first formal report arrives at the midpoint of each course.</a:t>
            </a:r>
            <a:endParaRPr lang="en-US" sz="1250" dirty="0"/>
          </a:p>
        </p:txBody>
      </p:sp>
      <p:sp>
        <p:nvSpPr>
          <p:cNvPr id="24" name="Text 22"/>
          <p:cNvSpPr txBox="1"/>
          <p:nvPr/>
        </p:nvSpPr>
        <p:spPr>
          <a:xfrm>
            <a:off x="685800" y="6355080"/>
            <a:ext cx="3657600" cy="274320"/>
          </a:xfrm>
          <a:prstGeom prst="rect">
            <a:avLst/>
          </a:prstGeom>
          <a:noFill/>
          <a:ln/>
        </p:spPr>
        <p:txBody>
          <a:bodyPr wrap="square" lIns="0" tIns="0" rIns="0" bIns="0" rtlCol="0" anchor="ctr"/>
          <a:lstStyle/>
          <a:p>
            <a:pPr indent="0" marL="0">
              <a:buNone/>
            </a:pPr>
            <a:r>
              <a:rPr lang="en-US" sz="900" dirty="0">
                <a:solidFill>
                  <a:srgbClr val="6F8197"/>
                </a:solidFill>
                <a:latin typeface="Figtree" pitchFamily="34" charset="0"/>
                <a:ea typeface="Figtree" pitchFamily="34" charset="-122"/>
                <a:cs typeface="Figtree" pitchFamily="34" charset="-120"/>
              </a:rPr>
              <a:t>Toronto Global Academy</a:t>
            </a:r>
            <a:endParaRPr lang="en-US" sz="900" dirty="0"/>
          </a:p>
        </p:txBody>
      </p:sp>
      <p:sp>
        <p:nvSpPr>
          <p:cNvPr id="25" name="Text 23"/>
          <p:cNvSpPr txBox="1"/>
          <p:nvPr/>
        </p:nvSpPr>
        <p:spPr>
          <a:xfrm>
            <a:off x="10591495" y="6355080"/>
            <a:ext cx="914400" cy="274320"/>
          </a:xfrm>
          <a:prstGeom prst="rect">
            <a:avLst/>
          </a:prstGeom>
          <a:noFill/>
          <a:ln/>
        </p:spPr>
        <p:txBody>
          <a:bodyPr wrap="square" lIns="0" tIns="0" rIns="0" bIns="0" rtlCol="0" anchor="ctr"/>
          <a:lstStyle/>
          <a:p>
            <a:pPr algn="r" indent="0" marL="0">
              <a:buNone/>
            </a:pPr>
            <a:r>
              <a:rPr lang="en-US" sz="900" dirty="0">
                <a:solidFill>
                  <a:srgbClr val="6F8197"/>
                </a:solidFill>
                <a:latin typeface="Figtree" pitchFamily="34" charset="0"/>
                <a:ea typeface="Figtree" pitchFamily="34" charset="-122"/>
                <a:cs typeface="Figtree"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D365B"/>
        </a:solidFill>
      </p:bgPr>
    </p:bg>
    <p:spTree>
      <p:nvGrpSpPr>
        <p:cNvPr id="1" name=""/>
        <p:cNvGrpSpPr/>
        <p:nvPr/>
      </p:nvGrpSpPr>
      <p:grpSpPr>
        <a:xfrm>
          <a:off x="0" y="0"/>
          <a:ext cx="0" cy="0"/>
          <a:chOff x="0" y="0"/>
          <a:chExt cx="0" cy="0"/>
        </a:xfrm>
      </p:grpSpPr>
      <p:pic>
        <p:nvPicPr>
          <p:cNvPr id="2" name="Image 0" descr="/root/deck/tga_logo_white.png">    </p:cNvPr>
          <p:cNvPicPr>
            <a:picLocks noChangeAspect="1"/>
          </p:cNvPicPr>
          <p:nvPr/>
        </p:nvPicPr>
        <p:blipFill>
          <a:blip r:embed="rId1"/>
          <a:stretch>
            <a:fillRect/>
          </a:stretch>
        </p:blipFill>
        <p:spPr>
          <a:xfrm>
            <a:off x="685800" y="548640"/>
            <a:ext cx="2011680" cy="612648"/>
          </a:xfrm>
          <a:prstGeom prst="rect">
            <a:avLst/>
          </a:prstGeom>
        </p:spPr>
      </p:pic>
      <p:sp>
        <p:nvSpPr>
          <p:cNvPr id="3" name="Text 0"/>
          <p:cNvSpPr txBox="1"/>
          <p:nvPr/>
        </p:nvSpPr>
        <p:spPr>
          <a:xfrm>
            <a:off x="685800" y="2468880"/>
            <a:ext cx="5669280" cy="1371600"/>
          </a:xfrm>
          <a:prstGeom prst="rect">
            <a:avLst/>
          </a:prstGeom>
          <a:noFill/>
          <a:ln/>
        </p:spPr>
        <p:txBody>
          <a:bodyPr wrap="square" lIns="0" tIns="0" rIns="0" bIns="0" rtlCol="0" anchor="t"/>
          <a:lstStyle/>
          <a:p>
            <a:pPr indent="0" marL="0">
              <a:lnSpc>
                <a:spcPct val="100000"/>
              </a:lnSpc>
              <a:buNone/>
            </a:pPr>
            <a:r>
              <a:rPr lang="en-US" sz="4000" b="1" dirty="0">
                <a:solidFill>
                  <a:srgbClr val="F3F4FA"/>
                </a:solidFill>
                <a:latin typeface="Bricolage Grotesque" pitchFamily="34" charset="0"/>
                <a:ea typeface="Bricolage Grotesque" pitchFamily="34" charset="-122"/>
                <a:cs typeface="Bricolage Grotesque" pitchFamily="34" charset="-120"/>
              </a:rPr>
              <a:t>Let's talk about your students.</a:t>
            </a:r>
            <a:endParaRPr lang="en-US" sz="4000" dirty="0"/>
          </a:p>
        </p:txBody>
      </p:sp>
      <p:sp>
        <p:nvSpPr>
          <p:cNvPr id="4" name="Text 1"/>
          <p:cNvSpPr txBox="1"/>
          <p:nvPr/>
        </p:nvSpPr>
        <p:spPr>
          <a:xfrm>
            <a:off x="685800" y="3931920"/>
            <a:ext cx="5303520" cy="822960"/>
          </a:xfrm>
          <a:prstGeom prst="rect">
            <a:avLst/>
          </a:prstGeom>
          <a:noFill/>
          <a:ln/>
        </p:spPr>
        <p:txBody>
          <a:bodyPr wrap="square" lIns="0" tIns="0" rIns="0" bIns="0" rtlCol="0" anchor="t"/>
          <a:lstStyle/>
          <a:p>
            <a:pPr indent="0" marL="0">
              <a:lnSpc>
                <a:spcPct val="120000"/>
              </a:lnSpc>
              <a:buNone/>
            </a:pPr>
            <a:r>
              <a:rPr lang="en-US" sz="1600" dirty="0">
                <a:solidFill>
                  <a:srgbClr val="B9C7DA"/>
                </a:solidFill>
                <a:latin typeface="Figtree" pitchFamily="34" charset="0"/>
                <a:ea typeface="Figtree" pitchFamily="34" charset="-122"/>
                <a:cs typeface="Figtree" pitchFamily="34" charset="-120"/>
              </a:rPr>
              <a:t>A short meeting at your masjid is enough to see whether this fits. Bring your student numbers and your questions.</a:t>
            </a:r>
            <a:endParaRPr lang="en-US" sz="1600" dirty="0"/>
          </a:p>
        </p:txBody>
      </p:sp>
      <p:sp>
        <p:nvSpPr>
          <p:cNvPr id="5" name="Text 2"/>
          <p:cNvSpPr txBox="1"/>
          <p:nvPr/>
        </p:nvSpPr>
        <p:spPr>
          <a:xfrm>
            <a:off x="6675120" y="2468880"/>
            <a:ext cx="4846320" cy="2377440"/>
          </a:xfrm>
          <a:prstGeom prst="rect">
            <a:avLst/>
          </a:prstGeom>
          <a:noFill/>
          <a:ln/>
        </p:spPr>
        <p:txBody>
          <a:bodyPr wrap="square" lIns="0" tIns="0" rIns="0" bIns="0" rtlCol="0" anchor="t"/>
          <a:lstStyle/>
          <a:p>
            <a:pPr indent="0" marL="0">
              <a:lnSpc>
                <a:spcPct val="125000"/>
              </a:lnSpc>
              <a:buNone/>
            </a:pPr>
            <a:r>
              <a:rPr lang="en-US" sz="1400" b="1" dirty="0">
                <a:solidFill>
                  <a:srgbClr val="F3F4FA"/>
                </a:solidFill>
                <a:latin typeface="Figtree" pitchFamily="34" charset="0"/>
                <a:ea typeface="Figtree" pitchFamily="34" charset="-122"/>
                <a:cs typeface="Figtree" pitchFamily="34" charset="-120"/>
              </a:rPr>
              <a:t>Mirza-Zain Baig</a:t>
            </a:r>
            <a:endParaRPr lang="en-US" sz="1250" dirty="0"/>
          </a:p>
          <a:p>
            <a:pPr indent="0" marL="0">
              <a:lnSpc>
                <a:spcPct val="125000"/>
              </a:lnSpc>
              <a:buNone/>
            </a:pPr>
            <a:r>
              <a:rPr lang="en-US" sz="1250" dirty="0">
                <a:solidFill>
                  <a:srgbClr val="B9C7DA"/>
                </a:solidFill>
                <a:latin typeface="Figtree" pitchFamily="34" charset="0"/>
                <a:ea typeface="Figtree" pitchFamily="34" charset="-122"/>
                <a:cs typeface="Figtree" pitchFamily="34" charset="-120"/>
              </a:rPr>
              <a:t>Partner, Toronto Global Academy</a:t>
            </a:r>
            <a:endParaRPr lang="en-US" sz="1250" dirty="0"/>
          </a:p>
          <a:p>
            <a:pPr indent="0" marL="0">
              <a:lnSpc>
                <a:spcPct val="125000"/>
              </a:lnSpc>
              <a:buNone/>
            </a:pPr>
            <a:r>
              <a:rPr lang="en-US" sz="600" dirty="0">
                <a:solidFill>
                  <a:srgbClr val="B9C7DA"/>
                </a:solidFill>
                <a:latin typeface="Figtree" pitchFamily="34" charset="0"/>
                <a:ea typeface="Figtree" pitchFamily="34" charset="-122"/>
                <a:cs typeface="Figtree" pitchFamily="34" charset="-120"/>
              </a:rPr>
              <a:t> </a:t>
            </a:r>
            <a:endParaRPr lang="en-US" sz="1250" dirty="0"/>
          </a:p>
          <a:p>
            <a:pPr indent="0" marL="0">
              <a:lnSpc>
                <a:spcPct val="125000"/>
              </a:lnSpc>
              <a:buNone/>
            </a:pPr>
            <a:r>
              <a:rPr lang="en-US" sz="1400" b="1" dirty="0">
                <a:solidFill>
                  <a:srgbClr val="F3F4FA"/>
                </a:solidFill>
                <a:latin typeface="Figtree" pitchFamily="34" charset="0"/>
                <a:ea typeface="Figtree" pitchFamily="34" charset="-122"/>
                <a:cs typeface="Figtree" pitchFamily="34" charset="-120"/>
              </a:rPr>
              <a:t>Toronto Global Academy</a:t>
            </a:r>
            <a:endParaRPr lang="en-US" sz="1250" dirty="0"/>
          </a:p>
          <a:p>
            <a:pPr indent="0" marL="0">
              <a:lnSpc>
                <a:spcPct val="125000"/>
              </a:lnSpc>
              <a:buNone/>
            </a:pPr>
            <a:r>
              <a:rPr lang="en-US" sz="1250" dirty="0">
                <a:solidFill>
                  <a:srgbClr val="B9C7DA"/>
                </a:solidFill>
                <a:latin typeface="Figtree" pitchFamily="34" charset="0"/>
                <a:ea typeface="Figtree" pitchFamily="34" charset="-122"/>
                <a:cs typeface="Figtree" pitchFamily="34" charset="-120"/>
              </a:rPr>
              <a:t>tgacademy.ca</a:t>
            </a:r>
            <a:endParaRPr lang="en-US" sz="1250" dirty="0"/>
          </a:p>
          <a:p>
            <a:pPr indent="0" marL="0">
              <a:lnSpc>
                <a:spcPct val="125000"/>
              </a:lnSpc>
              <a:buNone/>
            </a:pPr>
            <a:r>
              <a:rPr lang="en-US" sz="1250" dirty="0">
                <a:solidFill>
                  <a:srgbClr val="B9C7DA"/>
                </a:solidFill>
                <a:latin typeface="Figtree" pitchFamily="34" charset="0"/>
                <a:ea typeface="Figtree" pitchFamily="34" charset="-122"/>
                <a:cs typeface="Figtree" pitchFamily="34" charset="-120"/>
              </a:rPr>
              <a:t>admin@tgacademy.ca</a:t>
            </a:r>
            <a:endParaRPr lang="en-US" sz="1250" dirty="0"/>
          </a:p>
          <a:p>
            <a:pPr indent="0" marL="0">
              <a:lnSpc>
                <a:spcPct val="125000"/>
              </a:lnSpc>
              <a:buNone/>
            </a:pPr>
            <a:r>
              <a:rPr lang="en-US" sz="1250" dirty="0">
                <a:solidFill>
                  <a:srgbClr val="B9C7DA"/>
                </a:solidFill>
                <a:latin typeface="Figtree" pitchFamily="34" charset="0"/>
                <a:ea typeface="Figtree" pitchFamily="34" charset="-122"/>
                <a:cs typeface="Figtree" pitchFamily="34" charset="-120"/>
              </a:rPr>
              <a:t>416-786-9774</a:t>
            </a:r>
            <a:endParaRPr lang="en-US" sz="1250" dirty="0"/>
          </a:p>
          <a:p>
            <a:pPr indent="0" marL="0">
              <a:lnSpc>
                <a:spcPct val="125000"/>
              </a:lnSpc>
              <a:buNone/>
            </a:pPr>
            <a:r>
              <a:rPr lang="en-US" sz="1250" dirty="0">
                <a:solidFill>
                  <a:srgbClr val="B9C7DA"/>
                </a:solidFill>
                <a:latin typeface="Figtree" pitchFamily="34" charset="0"/>
                <a:ea typeface="Figtree" pitchFamily="34" charset="-122"/>
                <a:cs typeface="Figtree" pitchFamily="34" charset="-120"/>
              </a:rPr>
              <a:t>700 - 6733 Mississauga Road, Mississauga, ON L5N 6J5</a:t>
            </a:r>
            <a:endParaRPr lang="en-US" sz="1250" dirty="0"/>
          </a:p>
        </p:txBody>
      </p:sp>
      <p:sp>
        <p:nvSpPr>
          <p:cNvPr id="6" name="Text 3"/>
          <p:cNvSpPr txBox="1"/>
          <p:nvPr/>
        </p:nvSpPr>
        <p:spPr>
          <a:xfrm>
            <a:off x="685800" y="5806440"/>
            <a:ext cx="10820095" cy="502920"/>
          </a:xfrm>
          <a:prstGeom prst="rect">
            <a:avLst/>
          </a:prstGeom>
          <a:noFill/>
          <a:ln/>
        </p:spPr>
        <p:txBody>
          <a:bodyPr wrap="square" lIns="0" tIns="0" rIns="0" bIns="0" rtlCol="0" anchor="t"/>
          <a:lstStyle/>
          <a:p>
            <a:pPr indent="0" marL="0">
              <a:lnSpc>
                <a:spcPct val="120000"/>
              </a:lnSpc>
              <a:buNone/>
            </a:pPr>
            <a:r>
              <a:rPr lang="en-US" sz="900" dirty="0">
                <a:solidFill>
                  <a:srgbClr val="B9C7DA"/>
                </a:solidFill>
                <a:latin typeface="Figtree" pitchFamily="34" charset="0"/>
                <a:ea typeface="Figtree" pitchFamily="34" charset="-122"/>
                <a:cs typeface="Figtree" pitchFamily="34" charset="-120"/>
              </a:rPr>
              <a:t>Toronto Global Academy is an Ontario Ministry of Education inspected private school (BSID 884434) offering secondary school credit courses through teacher supported online learning. Prices shown are per student, one time, and are confirmed in a written agreement with your institution.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Toronto Global Academy, Partnership Deck</dc:title>
  <dc:subject>PptxGenJS Presentation</dc:subject>
  <dc:creator>Toronto Global Academy</dc:creator>
  <cp:lastModifiedBy>Toronto Global Academy</cp:lastModifiedBy>
  <cp:revision>1</cp:revision>
  <dcterms:created xsi:type="dcterms:W3CDTF">2026-09-13T23:01:27Z</dcterms:created>
  <dcterms:modified xsi:type="dcterms:W3CDTF">2026-09-13T23:01:27Z</dcterms:modified>
</cp:coreProperties>
</file>