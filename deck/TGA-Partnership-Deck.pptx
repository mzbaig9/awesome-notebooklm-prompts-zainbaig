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tension every madrasah leader already feels: parents want deen and diploma under one 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image" Target="../media/image-4-6.png"/><Relationship Id="rId7" Type="http://schemas.openxmlformats.org/officeDocument/2006/relationships/image" Target="../media/image-4-6.png"/><Relationship Id="rId8" Type="http://schemas.openxmlformats.org/officeDocument/2006/relationships/image" Target="../media/image-4-6.png"/><Relationship Id="rId9" Type="http://schemas.openxmlformats.org/officeDocument/2006/relationships/image" Target="../media/image-4-6.png"/><Relationship Id="rId10" Type="http://schemas.openxmlformats.org/officeDocument/2006/relationships/image" Target="../media/image-4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6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deck/tg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48640"/>
            <a:ext cx="2011680" cy="6126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 MASAJID AND MADRASAH LEADERSHIP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25146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3F4F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Quran in the morning.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3F4F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Ontario curriculum </a:t>
            </a:r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3F4FA"/>
                </a:solidFill>
                <a:highlight>
                  <a:srgbClr val="B58A2A"/>
                </a:highlight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in the afternoon.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3891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Grade 1 to 8 academic program that runs inside your madrasah on Toronto Global Academy's platform, at each child's pace with teacher support, without you running a school.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Presented by Mirza-Zain Baig, Partner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105095" y="6080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Grades 1 to 8, with a pathway into TGA's Ministry inspected high school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94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144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Parents are asking you for something you were never set up to give.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Your Quran and hifdh program is strong. Then a parent asks the question every madrasah hears: what about school?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3454298" cy="2331720"/>
          </a:xfrm>
          <a:prstGeom prst="roundRect">
            <a:avLst>
              <a:gd name="adj" fmla="val 6275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pic>
        <p:nvPicPr>
          <p:cNvPr id="6" name="Image 0" descr="/root/deck/icons/choic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3319272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41832" y="3959352"/>
            <a:ext cx="29422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The choice families face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4526280"/>
            <a:ext cx="2942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Deen or school. Most families cannot find both under one roof, so they pick one and worry about the other.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68698" y="3063240"/>
            <a:ext cx="3454298" cy="2331720"/>
          </a:xfrm>
          <a:prstGeom prst="roundRect">
            <a:avLst>
              <a:gd name="adj" fmla="val 6275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pic>
        <p:nvPicPr>
          <p:cNvPr id="10" name="Image 1" descr="/root/deck/icons/clock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3319272"/>
            <a:ext cx="502920" cy="5029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24730" y="3959352"/>
            <a:ext cx="29422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The hifdh gap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24730" y="4526280"/>
            <a:ext cx="2942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Children start hifdh at nine, ten or eleven and academics stop. Parents either accept the gap or pull the child out before the Quran is complete.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51597" y="3063240"/>
            <a:ext cx="3454298" cy="2331720"/>
          </a:xfrm>
          <a:prstGeom prst="roundRect">
            <a:avLst>
              <a:gd name="adj" fmla="val 6275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pic>
        <p:nvPicPr>
          <p:cNvPr id="14" name="Image 2" descr="/root/deck/icons/building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7629" y="3319272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07629" y="3959352"/>
            <a:ext cx="29422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The school you do not want to run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307629" y="4526280"/>
            <a:ext cx="29422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Curriculum, teachers, marking, report cards, records, payroll and liability. A full academic school is a second institution.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7E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WHAT THE GAP COSTS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Every year without an answer, families quietly make the decision for you.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611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None of this shows up in your budget. It shows up in who is no longer in the building.</a:t>
            </a:r>
            <a:endParaRPr lang="en-US" sz="1400" dirty="0"/>
          </a:p>
        </p:txBody>
      </p:sp>
      <p:pic>
        <p:nvPicPr>
          <p:cNvPr id="5" name="Image 0" descr="/root/deck/icons/peopl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9144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720840" y="896112"/>
            <a:ext cx="4785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Families leave for full time Islamic schools elsewhere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1225296"/>
            <a:ext cx="4785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They wanted to stay with you. They needed a curriculum.</a:t>
            </a:r>
            <a:endParaRPr lang="en-US" sz="1250" dirty="0"/>
          </a:p>
        </p:txBody>
      </p:sp>
      <p:pic>
        <p:nvPicPr>
          <p:cNvPr id="8" name="Image 1" descr="/root/deck/icons/book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20840" y="1993392"/>
            <a:ext cx="4785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Hifdh students return to public school and lose the routine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720840" y="2322576"/>
            <a:ext cx="4785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memorization holds only as long as the environment does.</a:t>
            </a:r>
            <a:endParaRPr lang="en-US" sz="1250" dirty="0"/>
          </a:p>
        </p:txBody>
      </p:sp>
      <p:pic>
        <p:nvPicPr>
          <p:cNvPr id="11" name="Image 2" descr="/root/deck/icons/hom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10896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720840" y="3090672"/>
            <a:ext cx="4785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Homeschooling parents carry the academic load alone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720840" y="3419856"/>
            <a:ext cx="4785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They stay connected to the masjid but do the teaching, marking and reporting themselves.</a:t>
            </a:r>
            <a:endParaRPr lang="en-US" sz="1250" dirty="0"/>
          </a:p>
        </p:txBody>
      </p:sp>
      <p:pic>
        <p:nvPicPr>
          <p:cNvPr id="14" name="Image 3" descr="/root/deck/icons/plus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420624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720840" y="4187952"/>
            <a:ext cx="4785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Your institution stays a part time option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720840" y="4517136"/>
            <a:ext cx="4785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Instead of the centre of the family's education.</a:t>
            </a:r>
            <a:endParaRPr lang="en-US" sz="1250" dirty="0"/>
          </a:p>
        </p:txBody>
      </p:sp>
      <p:sp>
        <p:nvSpPr>
          <p:cNvPr id="17" name="Text 11"/>
          <p:cNvSpPr txBox="1"/>
          <p:nvPr/>
        </p:nvSpPr>
        <p:spPr>
          <a:xfrm>
            <a:off x="6858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</a:t>
            </a:r>
            <a:endParaRPr lang="en-US" sz="900" dirty="0"/>
          </a:p>
        </p:txBody>
      </p:sp>
      <p:sp>
        <p:nvSpPr>
          <p:cNvPr id="18" name="Text 12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36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94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144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3F4F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TGA runs the academics. You keep everything that makes you a madrasah.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377440"/>
            <a:ext cx="5272888" cy="3291840"/>
          </a:xfrm>
          <a:prstGeom prst="roundRect">
            <a:avLst>
              <a:gd name="adj" fmla="val 4444"/>
            </a:avLst>
          </a:prstGeom>
          <a:solidFill>
            <a:srgbClr val="2C4468"/>
          </a:solidFill>
          <a:ln w="12700">
            <a:solidFill>
              <a:srgbClr val="2C44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33008" y="2377440"/>
            <a:ext cx="5272888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YOU KEEP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507328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TGA CARRIES</a:t>
            </a:r>
            <a:endParaRPr lang="en-US" sz="1000" dirty="0"/>
          </a:p>
        </p:txBody>
      </p:sp>
      <p:pic>
        <p:nvPicPr>
          <p:cNvPr id="8" name="Image 0" descr="/root/deck/icons/check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0175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301752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4F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Your Quran and hifdh program</a:t>
            </a:r>
            <a:endParaRPr lang="en-US" sz="1500" dirty="0"/>
          </a:p>
        </p:txBody>
      </p:sp>
      <p:pic>
        <p:nvPicPr>
          <p:cNvPr id="10" name="Image 1" descr="/root/deck/icons/check_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204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352044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4F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Your building and your schedule</a:t>
            </a:r>
            <a:endParaRPr lang="en-US" sz="1500" dirty="0"/>
          </a:p>
        </p:txBody>
      </p:sp>
      <p:pic>
        <p:nvPicPr>
          <p:cNvPr id="12" name="Image 2" descr="/root/deck/icons/check_amb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2336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402336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4F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The relationship with parents</a:t>
            </a:r>
            <a:endParaRPr lang="en-US" sz="1500" dirty="0"/>
          </a:p>
        </p:txBody>
      </p:sp>
      <p:pic>
        <p:nvPicPr>
          <p:cNvPr id="14" name="Image 3" descr="/root/deck/icons/check_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526280"/>
            <a:ext cx="365760" cy="365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63040" y="452628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4F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The Islamic environment, all day</a:t>
            </a:r>
            <a:endParaRPr lang="en-US" sz="1500" dirty="0"/>
          </a:p>
        </p:txBody>
      </p:sp>
      <p:pic>
        <p:nvPicPr>
          <p:cNvPr id="16" name="Image 4" descr="/root/deck/icons/check_amb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02920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463040" y="502920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4F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Supervision in the room</a:t>
            </a:r>
            <a:endParaRPr lang="en-US" sz="1500" dirty="0"/>
          </a:p>
        </p:txBody>
      </p:sp>
      <p:pic>
        <p:nvPicPr>
          <p:cNvPr id="18" name="Image 5" descr="/root/deck/icons/check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3017520"/>
            <a:ext cx="365760" cy="3657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010248" y="301752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Full Ontario curriculum, Grades 1 to 8</a:t>
            </a:r>
            <a:endParaRPr lang="en-US" sz="1500" dirty="0"/>
          </a:p>
        </p:txBody>
      </p:sp>
      <p:pic>
        <p:nvPicPr>
          <p:cNvPr id="20" name="Image 6" descr="/root/deck/icons/check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7328" y="3520440"/>
            <a:ext cx="365760" cy="36576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010248" y="352044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Lessons and assignments on the TGA platform</a:t>
            </a:r>
            <a:endParaRPr lang="en-US" sz="1500" dirty="0"/>
          </a:p>
        </p:txBody>
      </p:sp>
      <p:pic>
        <p:nvPicPr>
          <p:cNvPr id="22" name="Image 7" descr="/root/deck/icons/check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7328" y="4023360"/>
            <a:ext cx="365760" cy="36576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010248" y="402336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Teacher support and marking</a:t>
            </a:r>
            <a:endParaRPr lang="en-US" sz="1500" dirty="0"/>
          </a:p>
        </p:txBody>
      </p:sp>
      <p:pic>
        <p:nvPicPr>
          <p:cNvPr id="24" name="Image 8" descr="/root/deck/icons/check_nav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7328" y="4526280"/>
            <a:ext cx="365760" cy="36576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7010248" y="452628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Ongoing progress marks and reporting</a:t>
            </a:r>
            <a:endParaRPr lang="en-US" sz="1500" dirty="0"/>
          </a:p>
        </p:txBody>
      </p:sp>
      <p:pic>
        <p:nvPicPr>
          <p:cNvPr id="26" name="Image 9" descr="/root/deck/icons/check_nav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7328" y="5029200"/>
            <a:ext cx="365760" cy="36576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7010248" y="502920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Placement and a weekly study routine per child</a:t>
            </a:r>
            <a:endParaRPr lang="en-US" sz="1500" dirty="0"/>
          </a:p>
        </p:txBody>
      </p:sp>
      <p:sp>
        <p:nvSpPr>
          <p:cNvPr id="28" name="Text 16"/>
          <p:cNvSpPr txBox="1"/>
          <p:nvPr/>
        </p:nvSpPr>
        <p:spPr>
          <a:xfrm>
            <a:off x="6858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</a:t>
            </a:r>
            <a:endParaRPr lang="en-US" sz="900" dirty="0"/>
          </a:p>
        </p:txBody>
      </p:sp>
      <p:sp>
        <p:nvSpPr>
          <p:cNvPr id="29" name="Text 1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94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DAY INSIDE YOUR MADRASAH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91440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Same building, same students, same supervision. TGA runs the academic block.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2926080"/>
            <a:ext cx="10362895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697480"/>
            <a:ext cx="457200" cy="457200"/>
          </a:xfrm>
          <a:prstGeom prst="ellipse">
            <a:avLst/>
          </a:prstGeom>
          <a:solidFill>
            <a:srgbClr val="1D365B"/>
          </a:solidFill>
          <a:ln w="12700">
            <a:solidFill>
              <a:srgbClr val="1D36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3756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Morning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24992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Quran and hifdh with your teachers, exactly as today.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9404" y="2697480"/>
            <a:ext cx="457200" cy="457200"/>
          </a:xfrm>
          <a:prstGeom prst="ellipse">
            <a:avLst/>
          </a:prstGeom>
          <a:solidFill>
            <a:srgbClr val="1D365B"/>
          </a:solidFill>
          <a:ln w="12700">
            <a:solidFill>
              <a:srgbClr val="1D36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59404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59404" y="333756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Academic block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59404" y="3703320"/>
            <a:ext cx="24992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Children work through their TGA lessons and assignments on site. Your staff supervise the room.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33008" y="2697480"/>
            <a:ext cx="457200" cy="457200"/>
          </a:xfrm>
          <a:prstGeom prst="ellipse">
            <a:avLst/>
          </a:prstGeom>
          <a:solidFill>
            <a:srgbClr val="1D365B"/>
          </a:solidFill>
          <a:ln w="12700">
            <a:solidFill>
              <a:srgbClr val="1D36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3008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333756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Teacher support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233008" y="3703320"/>
            <a:ext cx="24992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TGA teachers answer questions, mark the work and give feedback. The platform is open around the clock.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006611" y="2697480"/>
            <a:ext cx="457200" cy="457200"/>
          </a:xfrm>
          <a:prstGeom prst="ellipse">
            <a:avLst/>
          </a:prstGeom>
          <a:solidFill>
            <a:srgbClr val="FFAE04"/>
          </a:solidFill>
          <a:ln w="12700">
            <a:solidFill>
              <a:srgbClr val="FFAE0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06611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006611" y="333756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Progress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06611" y="3703320"/>
            <a:ext cx="24992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Marks are built through ongoing work, not one exam, and parents see where each child stands.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5029200"/>
            <a:ext cx="3484778" cy="960120"/>
          </a:xfrm>
          <a:prstGeom prst="roundRect">
            <a:avLst>
              <a:gd name="adj" fmla="val 15238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5138928"/>
            <a:ext cx="30824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365B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Your schedule.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Families and the madrasah decide how the academic block runs, full days, half days or a few hours a day.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53458" y="5029200"/>
            <a:ext cx="3484778" cy="960120"/>
          </a:xfrm>
          <a:prstGeom prst="roundRect">
            <a:avLst>
              <a:gd name="adj" fmla="val 15238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54626" y="5138928"/>
            <a:ext cx="30824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365B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Own pace.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Each child moves through the curriculum at a pace that fits, with a suggested weekly routine.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021117" y="5029200"/>
            <a:ext cx="3484778" cy="960120"/>
          </a:xfrm>
          <a:prstGeom prst="roundRect">
            <a:avLst>
              <a:gd name="adj" fmla="val 15238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2285" y="5138928"/>
            <a:ext cx="30824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365B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teachers to hire.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You provide a room, a device and a supervisor. TGA provides the rest.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7E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WHAT STUDENTS GET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The full Ontario curriculum, Grade 1 to Grade 8, with a teacher behind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697480"/>
            <a:ext cx="2533574" cy="2743200"/>
          </a:xfrm>
          <a:prstGeom prst="roundRect">
            <a:avLst>
              <a:gd name="adj" fmla="val 577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pic>
        <p:nvPicPr>
          <p:cNvPr id="5" name="Image 0" descr="/root/deck/icons/book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953512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41832" y="3593592"/>
            <a:ext cx="20215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Every grade, every subject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41832" y="4160520"/>
            <a:ext cx="202151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full Canadian curriculum for Grades 1 to 8, built on the Ontario program.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447974" y="2697480"/>
            <a:ext cx="2533574" cy="2743200"/>
          </a:xfrm>
          <a:prstGeom prst="roundRect">
            <a:avLst>
              <a:gd name="adj" fmla="val 577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pic>
        <p:nvPicPr>
          <p:cNvPr id="9" name="Image 1" descr="/root/deck/icons/clock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4006" y="2953512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04006" y="3593592"/>
            <a:ext cx="20215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platform open all day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3704006" y="4160520"/>
            <a:ext cx="202151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Lessons, assignments and teacher support on TGA's learning platform, available around the clock.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0148" y="2697480"/>
            <a:ext cx="2533574" cy="2743200"/>
          </a:xfrm>
          <a:prstGeom prst="roundRect">
            <a:avLst>
              <a:gd name="adj" fmla="val 577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pic>
        <p:nvPicPr>
          <p:cNvPr id="13" name="Image 2" descr="/root/deck/icons/puls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180" y="2953512"/>
            <a:ext cx="502920" cy="502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66180" y="3593592"/>
            <a:ext cx="20215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Marks built through progress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466180" y="4160520"/>
            <a:ext cx="202151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balanced assessment model. A child's mark grows from ongoing work, not a single test.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972321" y="2697480"/>
            <a:ext cx="2533574" cy="2743200"/>
          </a:xfrm>
          <a:prstGeom prst="roundRect">
            <a:avLst>
              <a:gd name="adj" fmla="val 577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pic>
        <p:nvPicPr>
          <p:cNvPr id="17" name="Image 3" descr="/root/deck/icons/person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8353" y="2953512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228353" y="3593592"/>
            <a:ext cx="20215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Placement and routine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228353" y="4160520"/>
            <a:ext cx="202151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readiness review for each child's grade and a suggested weekly study routine built around their schedule.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WHY TORONTO GLOBAL ACADEMY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Built for families who learn outside a classroom, with a real high school behind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06908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40690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365B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Ontario curriculum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95728" y="4069080"/>
            <a:ext cx="1211580" cy="310896"/>
          </a:xfrm>
          <a:prstGeom prst="roundRect">
            <a:avLst>
              <a:gd name="adj" fmla="val 50000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95728" y="4069080"/>
            <a:ext cx="12115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365B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Grades 1 to 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17036" y="4069080"/>
            <a:ext cx="1833372" cy="310896"/>
          </a:xfrm>
          <a:prstGeom prst="roundRect">
            <a:avLst>
              <a:gd name="adj" fmla="val 50000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17036" y="4069080"/>
            <a:ext cx="18333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365B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Grade 9 to 12 credits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5800" y="4480560"/>
            <a:ext cx="1755648" cy="310896"/>
          </a:xfrm>
          <a:prstGeom prst="roundRect">
            <a:avLst>
              <a:gd name="adj" fmla="val 50000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48056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365B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Mississauga, Ontario</a:t>
            </a:r>
            <a:endParaRPr lang="en-US" sz="1000" dirty="0"/>
          </a:p>
        </p:txBody>
      </p:sp>
      <p:pic>
        <p:nvPicPr>
          <p:cNvPr id="12" name="Image 0" descr="/root/deck/icons/shield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91440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995160" y="896112"/>
            <a:ext cx="45107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Curriculum integrity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95160" y="1225296"/>
            <a:ext cx="4510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Lessons follow the Ontario program, in a defined sequence, grade by grade.</a:t>
            </a:r>
            <a:endParaRPr lang="en-US" sz="1250" dirty="0"/>
          </a:p>
        </p:txBody>
      </p:sp>
      <p:pic>
        <p:nvPicPr>
          <p:cNvPr id="15" name="Image 1" descr="/root/deck/icons/person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995160" y="1993392"/>
            <a:ext cx="45107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Teacher supported, not left alone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6995160" y="2322576"/>
            <a:ext cx="4510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Children work independently, and a TGA teacher is there to answer, mark and guide.</a:t>
            </a:r>
            <a:endParaRPr lang="en-US" sz="1250" dirty="0"/>
          </a:p>
        </p:txBody>
      </p:sp>
      <p:pic>
        <p:nvPicPr>
          <p:cNvPr id="18" name="Image 2" descr="/root/deck/icons/home_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108960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95160" y="3090672"/>
            <a:ext cx="45107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Tools for parents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6995160" y="3419856"/>
            <a:ext cx="4510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Free readiness checks, homeschooling fit guidance and study routines, so families know what to expect.</a:t>
            </a:r>
            <a:endParaRPr lang="en-US" sz="1250" dirty="0"/>
          </a:p>
        </p:txBody>
      </p:sp>
      <p:pic>
        <p:nvPicPr>
          <p:cNvPr id="21" name="Image 3" descr="/root/deck/icons/globe_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20624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95160" y="4187952"/>
            <a:ext cx="45107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Flexibility with accountability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995160" y="4517136"/>
            <a:ext cx="4510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pace that works for each family, with progress that is tracked and reported.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6858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WHO THIS SERVES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Four groups already in your community.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2533574" cy="2834640"/>
          </a:xfrm>
          <a:prstGeom prst="roundRect">
            <a:avLst>
              <a:gd name="adj" fmla="val 577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pic>
        <p:nvPicPr>
          <p:cNvPr id="5" name="Image 0" descr="/root/deck/icons/book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724912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41832" y="3364992"/>
            <a:ext cx="20215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Hifdh students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41832" y="3931920"/>
            <a:ext cx="202151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Keep academics moving through the memorization years so nothing has to be repeated later.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447974" y="2468880"/>
            <a:ext cx="2533574" cy="2834640"/>
          </a:xfrm>
          <a:prstGeom prst="roundRect">
            <a:avLst>
              <a:gd name="adj" fmla="val 577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pic>
        <p:nvPicPr>
          <p:cNvPr id="9" name="Image 1" descr="/root/deck/icons/building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4006" y="2724912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04006" y="3364992"/>
            <a:ext cx="20215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Full time madrasah students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3704006" y="3931920"/>
            <a:ext cx="202151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Grade 1 to 8 children who spend the day with you and need their schooling covered.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0148" y="2468880"/>
            <a:ext cx="2533574" cy="2834640"/>
          </a:xfrm>
          <a:prstGeom prst="roundRect">
            <a:avLst>
              <a:gd name="adj" fmla="val 577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pic>
        <p:nvPicPr>
          <p:cNvPr id="13" name="Image 2" descr="/root/deck/icons/hom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180" y="2724912"/>
            <a:ext cx="502920" cy="502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66180" y="3364992"/>
            <a:ext cx="20215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Homeschooling families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466180" y="3931920"/>
            <a:ext cx="202151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Parents in your congregation who want certified teaching and reporting behind what they do at home.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972321" y="2468880"/>
            <a:ext cx="2533574" cy="2834640"/>
          </a:xfrm>
          <a:prstGeom prst="roundRect">
            <a:avLst>
              <a:gd name="adj" fmla="val 577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pic>
        <p:nvPicPr>
          <p:cNvPr id="17" name="Image 3" descr="/root/deck/icons/pulse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8353" y="2724912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228353" y="3364992"/>
            <a:ext cx="20215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Children who need their own pace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228353" y="3931920"/>
            <a:ext cx="202151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Students who are ahead, behind or in between, and do better outside a fixed classroom.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36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AFTER GRADE 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3F4F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The same school carries them from Grade 1 to an Ontario diploma.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child who finishes Grade 8 with TGA moves into TGA's high school credit program without changing platform, records or school.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108960"/>
            <a:ext cx="3179978" cy="2194560"/>
          </a:xfrm>
          <a:prstGeom prst="roundRect">
            <a:avLst>
              <a:gd name="adj" fmla="val 6667"/>
            </a:avLst>
          </a:prstGeom>
          <a:solidFill>
            <a:srgbClr val="2C4468"/>
          </a:solidFill>
          <a:ln w="12700">
            <a:solidFill>
              <a:srgbClr val="2C44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3337560"/>
            <a:ext cx="2667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GRADES 1 TO 8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675888"/>
            <a:ext cx="26679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F4F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Ontario curriculum on the TGA platform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4434840"/>
            <a:ext cx="26679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Inside your madrasah, at the child's pace, with teacher support.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911498" y="3886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AE0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505858" y="3108960"/>
            <a:ext cx="3179978" cy="21945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61890" y="3337560"/>
            <a:ext cx="2667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GRADES 9 TO 12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761890" y="3675888"/>
            <a:ext cx="26679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Ministry inspected high school credits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61890" y="4434840"/>
            <a:ext cx="26679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 is an Ontario Ministry of Education inspected private school, BSID 884434.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31557" y="3886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AE0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→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8325917" y="3108960"/>
            <a:ext cx="3179978" cy="2194560"/>
          </a:xfrm>
          <a:prstGeom prst="roundRect">
            <a:avLst>
              <a:gd name="adj" fmla="val 6667"/>
            </a:avLst>
          </a:prstGeom>
          <a:solidFill>
            <a:srgbClr val="2C4468"/>
          </a:solidFill>
          <a:ln w="12700">
            <a:solidFill>
              <a:srgbClr val="2C44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81949" y="3337560"/>
            <a:ext cx="2667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GRADUATION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581949" y="3675888"/>
            <a:ext cx="26679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F4F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Ontario Secondary School Diploma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581949" y="4434840"/>
            <a:ext cx="26679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same diploma any Ontario high school grants, with the Quran completed alongside it.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7E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FLEXIBLE PRICING FOR GROUPS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The more students you enrol, the less each one costs.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2004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Pricing is per student, one time. Your whole institution is priced at its tier, so a growing madrasah moves down the table as it grows.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206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one time onboarding fee for on site setup, supervisor training and the parent orientation is quoted separately by your partner.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943600" y="1234440"/>
            <a:ext cx="5562295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1371600"/>
          <a:ext cx="528797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4474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00" kern="0" dirty="0">
                          <a:solidFill>
                            <a:srgbClr val="6F819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STUDENTS ENROLLED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00" kern="0" dirty="0">
                          <a:solidFill>
                            <a:srgbClr val="6F819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PRICE PER STUDENT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00" kern="0" dirty="0">
                          <a:solidFill>
                            <a:srgbClr val="6F819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TIER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365B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 to 10</a:t>
                      </a:r>
                      <a:endParaRPr lang="en-US" sz="14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D365B"/>
                          </a:solidFill>
                          <a:latin typeface="Bricolage Grotesque" pitchFamily="34" charset="0"/>
                          <a:ea typeface="Bricolage Grotesque" pitchFamily="34" charset="-122"/>
                          <a:cs typeface="Bricolage Grotesque" pitchFamily="34" charset="-120"/>
                        </a:rPr>
                        <a:t>$1,000</a:t>
                      </a:r>
                      <a:endParaRPr lang="en-US" sz="2000" dirty="0">
                        <a:latin typeface="Bricolage Grotesque" charset="0"/>
                        <a:ea typeface="Bricolage Grotesque" charset="0"/>
                        <a:cs typeface="Bricolage Grotesqu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365B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Starter</a:t>
                      </a:r>
                      <a:endParaRPr lang="en-US" sz="105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365B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11 to 25</a:t>
                      </a:r>
                      <a:endParaRPr lang="en-US" sz="14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D365B"/>
                          </a:solidFill>
                          <a:latin typeface="Bricolage Grotesque" pitchFamily="34" charset="0"/>
                          <a:ea typeface="Bricolage Grotesque" pitchFamily="34" charset="-122"/>
                          <a:cs typeface="Bricolage Grotesque" pitchFamily="34" charset="-120"/>
                        </a:rPr>
                        <a:t>$1,000</a:t>
                      </a:r>
                      <a:endParaRPr lang="en-US" sz="2000" dirty="0">
                        <a:latin typeface="Bricolage Grotesque" charset="0"/>
                        <a:ea typeface="Bricolage Grotesque" charset="0"/>
                        <a:cs typeface="Bricolage Grotesqu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365B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Group</a:t>
                      </a:r>
                      <a:endParaRPr lang="en-US" sz="105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365B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26 to 50</a:t>
                      </a:r>
                      <a:endParaRPr lang="en-US" sz="14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D365B"/>
                          </a:solidFill>
                          <a:latin typeface="Bricolage Grotesque" pitchFamily="34" charset="0"/>
                          <a:ea typeface="Bricolage Grotesque" pitchFamily="34" charset="-122"/>
                          <a:cs typeface="Bricolage Grotesque" pitchFamily="34" charset="-120"/>
                        </a:rPr>
                        <a:t>$950</a:t>
                      </a:r>
                      <a:endParaRPr lang="en-US" sz="2000" dirty="0">
                        <a:latin typeface="Bricolage Grotesque" charset="0"/>
                        <a:ea typeface="Bricolage Grotesque" charset="0"/>
                        <a:cs typeface="Bricolage Grotesqu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365B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Institution</a:t>
                      </a:r>
                      <a:endParaRPr lang="en-US" sz="105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365B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51 to 200</a:t>
                      </a:r>
                      <a:endParaRPr lang="en-US" sz="14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D365B"/>
                          </a:solidFill>
                          <a:latin typeface="Bricolage Grotesque" pitchFamily="34" charset="0"/>
                          <a:ea typeface="Bricolage Grotesque" pitchFamily="34" charset="-122"/>
                          <a:cs typeface="Bricolage Grotesque" pitchFamily="34" charset="-120"/>
                        </a:rPr>
                        <a:t>$850</a:t>
                      </a:r>
                      <a:endParaRPr lang="en-US" sz="2000" dirty="0">
                        <a:latin typeface="Bricolage Grotesque" charset="0"/>
                        <a:ea typeface="Bricolage Grotesque" charset="0"/>
                        <a:cs typeface="Bricolage Grotesqu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365B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Most madaris</a:t>
                      </a:r>
                      <a:endParaRPr lang="en-US" sz="105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D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365B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201 and above</a:t>
                      </a:r>
                      <a:endParaRPr lang="en-US" sz="14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D365B"/>
                          </a:solidFill>
                          <a:latin typeface="Bricolage Grotesque" pitchFamily="34" charset="0"/>
                          <a:ea typeface="Bricolage Grotesque" pitchFamily="34" charset="-122"/>
                          <a:cs typeface="Bricolage Grotesque" pitchFamily="34" charset="-120"/>
                        </a:rPr>
                        <a:t>$800</a:t>
                      </a:r>
                      <a:endParaRPr lang="en-US" sz="2000" dirty="0">
                        <a:latin typeface="Bricolage Grotesque" charset="0"/>
                        <a:ea typeface="Bricolage Grotesque" charset="0"/>
                        <a:cs typeface="Bricolage Grotesqu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365B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Network</a:t>
                      </a:r>
                      <a:endParaRPr lang="en-US" sz="105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164592" marR="16459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858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PAYMENT OPTIONS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Pay the way your institution budgets.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454298" cy="2240280"/>
          </a:xfrm>
          <a:prstGeom prst="roundRect">
            <a:avLst>
              <a:gd name="adj" fmla="val 6531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pic>
        <p:nvPicPr>
          <p:cNvPr id="5" name="Image 0" descr="/root/deck/icons/card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724912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41832" y="3364992"/>
            <a:ext cx="29422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In full at enrolment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41832" y="3931920"/>
            <a:ext cx="29422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One invoice, settled once. The simplest option for institutions that collect fees up front.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68698" y="2468880"/>
            <a:ext cx="3454298" cy="2240280"/>
          </a:xfrm>
          <a:prstGeom prst="roundRect">
            <a:avLst>
              <a:gd name="adj" fmla="val 6531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pic>
        <p:nvPicPr>
          <p:cNvPr id="9" name="Image 1" descr="/root/deck/icons/half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2724912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24730" y="3364992"/>
            <a:ext cx="29422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Two instalments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624730" y="3931920"/>
            <a:ext cx="29422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Half at enrolment and half mid year. Matches how most families pay the madrasah.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051597" y="2468880"/>
            <a:ext cx="3454298" cy="2240280"/>
          </a:xfrm>
          <a:prstGeom prst="roundRect">
            <a:avLst>
              <a:gd name="adj" fmla="val 6531"/>
            </a:avLst>
          </a:prstGeom>
          <a:solidFill>
            <a:srgbClr val="E7EDF4"/>
          </a:solidFill>
          <a:ln w="12700">
            <a:solidFill>
              <a:srgbClr val="E7EDF4"/>
            </a:solidFill>
            <a:prstDash val="solid"/>
          </a:ln>
        </p:spPr>
      </p:sp>
      <p:pic>
        <p:nvPicPr>
          <p:cNvPr id="13" name="Image 2" descr="/root/deck/icons/calendar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7629" y="2724912"/>
            <a:ext cx="502920" cy="502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7629" y="3364992"/>
            <a:ext cx="29422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Yearly billing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307629" y="3931920"/>
            <a:ext cx="29422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 institutions that re-enrol each year. One invoice per school year, on your calendar.</a:t>
            </a:r>
            <a:endParaRPr lang="en-US" sz="1250" dirty="0"/>
          </a:p>
        </p:txBody>
      </p:sp>
      <p:pic>
        <p:nvPicPr>
          <p:cNvPr id="16" name="Image 3" descr="/root/deck/icons/check_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29200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34440" y="49834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365B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TGA invoices your institution directly.</a:t>
            </a:r>
            <a:pPr indent="0" marL="0">
              <a:buNone/>
            </a:pPr>
            <a:r>
              <a:rPr lang="en-US" sz="13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Group pricing applies to every student you enrol, and the tier is set by your total enrolment.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6858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7E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GETTING STARTED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From first conversation to first report card.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2533574" cy="2651760"/>
          </a:xfrm>
          <a:prstGeom prst="roundRect">
            <a:avLst>
              <a:gd name="adj" fmla="val 577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2724912"/>
            <a:ext cx="457200" cy="457200"/>
          </a:xfrm>
          <a:prstGeom prst="ellipse">
            <a:avLst/>
          </a:prstGeom>
          <a:solidFill>
            <a:srgbClr val="1D365B"/>
          </a:solidFill>
          <a:ln w="12700">
            <a:solidFill>
              <a:srgbClr val="1D36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337560"/>
            <a:ext cx="20215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Site visit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931920"/>
            <a:ext cx="202151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We meet your leadership, see the space and walk through the program with your team.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47974" y="2468880"/>
            <a:ext cx="2533574" cy="2651760"/>
          </a:xfrm>
          <a:prstGeom prst="roundRect">
            <a:avLst>
              <a:gd name="adj" fmla="val 577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04006" y="2724912"/>
            <a:ext cx="457200" cy="457200"/>
          </a:xfrm>
          <a:prstGeom prst="ellipse">
            <a:avLst/>
          </a:prstGeom>
          <a:solidFill>
            <a:srgbClr val="1D365B"/>
          </a:solidFill>
          <a:ln w="12700">
            <a:solidFill>
              <a:srgbClr val="1D36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4006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04006" y="3337560"/>
            <a:ext cx="20215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Enrolment and placement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704006" y="3931920"/>
            <a:ext cx="202151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You share the student list. TGA reviews each child's readiness and places them in the right grade.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0148" y="2468880"/>
            <a:ext cx="2533574" cy="2651760"/>
          </a:xfrm>
          <a:prstGeom prst="roundRect">
            <a:avLst>
              <a:gd name="adj" fmla="val 577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66180" y="2724912"/>
            <a:ext cx="457200" cy="457200"/>
          </a:xfrm>
          <a:prstGeom prst="ellipse">
            <a:avLst/>
          </a:prstGeom>
          <a:solidFill>
            <a:srgbClr val="1D365B"/>
          </a:solidFill>
          <a:ln w="12700">
            <a:solidFill>
              <a:srgbClr val="1D36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618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6180" y="3337560"/>
            <a:ext cx="20215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66180" y="3931920"/>
            <a:ext cx="202151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Platform setup, supervisor orientation and a parent session, delivered on site by your partner.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972321" y="2468880"/>
            <a:ext cx="2533574" cy="2651760"/>
          </a:xfrm>
          <a:prstGeom prst="roundRect">
            <a:avLst>
              <a:gd name="adj" fmla="val 577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101600" dist="25400" dir="5400000">
              <a:srgbClr val="14243D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28353" y="2724912"/>
            <a:ext cx="457200" cy="457200"/>
          </a:xfrm>
          <a:prstGeom prst="ellipse">
            <a:avLst/>
          </a:prstGeom>
          <a:solidFill>
            <a:srgbClr val="FFAE04"/>
          </a:solidFill>
          <a:ln w="12700">
            <a:solidFill>
              <a:srgbClr val="FFA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28353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28353" y="3337560"/>
            <a:ext cx="202151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365B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Launch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228353" y="3931920"/>
            <a:ext cx="202151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66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Children start on the platform with a weekly routine, and parents see progress as marks build.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819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36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deck/tg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48640"/>
            <a:ext cx="2011680" cy="6126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246888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3F4FA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Let's talk about your students.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393192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short meeting at your masjid is enough to see whether this fits. Bring your student numbers and your questions.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6675120" y="24688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3F4F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Mirza-Zain Baig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Partner, Toronto Global Academy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6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3F4F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tgacademy.ca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admin@tgacademy.ca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416-786-9774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700 - 6733 Mississauga Road, Mississauga, ON L5N 6J5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80644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B9C7D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Toronto Global Academy offers a Grade 1 to 8 online academic program built on the Ontario curriculum, and a Ministry of Education inspected high school credit program (BSID 884434) for Grades 9 to 12. Prices shown are per student, one time, and are confirmed in a written agreement with your institution.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Toronto Global Academy, Partnership Deck</dc:title>
  <dc:subject>PptxGenJS Presentation</dc:subject>
  <dc:creator>Toronto Global Academy</dc:creator>
  <cp:lastModifiedBy>Toronto Global Academy</cp:lastModifiedBy>
  <cp:revision>1</cp:revision>
  <dcterms:created xsi:type="dcterms:W3CDTF">2026-09-13T23:09:10Z</dcterms:created>
  <dcterms:modified xsi:type="dcterms:W3CDTF">2026-09-13T23:09:10Z</dcterms:modified>
</cp:coreProperties>
</file>